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ppm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53"/>
  </p:notesMasterIdLst>
  <p:sldIdLst>
    <p:sldId id="256" r:id="rId3"/>
    <p:sldId id="259" r:id="rId4"/>
    <p:sldId id="260" r:id="rId5"/>
    <p:sldId id="279" r:id="rId6"/>
    <p:sldId id="280" r:id="rId7"/>
    <p:sldId id="281" r:id="rId8"/>
    <p:sldId id="282" r:id="rId9"/>
    <p:sldId id="283" r:id="rId10"/>
    <p:sldId id="285" r:id="rId11"/>
    <p:sldId id="286" r:id="rId12"/>
    <p:sldId id="354" r:id="rId13"/>
    <p:sldId id="287" r:id="rId14"/>
    <p:sldId id="289" r:id="rId15"/>
    <p:sldId id="290" r:id="rId16"/>
    <p:sldId id="293" r:id="rId17"/>
    <p:sldId id="261" r:id="rId18"/>
    <p:sldId id="291" r:id="rId19"/>
    <p:sldId id="292" r:id="rId20"/>
    <p:sldId id="337" r:id="rId21"/>
    <p:sldId id="336" r:id="rId22"/>
    <p:sldId id="264" r:id="rId23"/>
    <p:sldId id="298" r:id="rId24"/>
    <p:sldId id="302" r:id="rId25"/>
    <p:sldId id="299" r:id="rId26"/>
    <p:sldId id="300" r:id="rId27"/>
    <p:sldId id="301" r:id="rId28"/>
    <p:sldId id="303" r:id="rId29"/>
    <p:sldId id="339" r:id="rId30"/>
    <p:sldId id="338" r:id="rId31"/>
    <p:sldId id="340" r:id="rId32"/>
    <p:sldId id="343" r:id="rId33"/>
    <p:sldId id="356" r:id="rId34"/>
    <p:sldId id="341" r:id="rId35"/>
    <p:sldId id="342" r:id="rId36"/>
    <p:sldId id="307" r:id="rId37"/>
    <p:sldId id="348" r:id="rId38"/>
    <p:sldId id="346" r:id="rId39"/>
    <p:sldId id="347" r:id="rId40"/>
    <p:sldId id="345" r:id="rId41"/>
    <p:sldId id="351" r:id="rId42"/>
    <p:sldId id="352" r:id="rId43"/>
    <p:sldId id="357" r:id="rId44"/>
    <p:sldId id="355" r:id="rId45"/>
    <p:sldId id="358" r:id="rId46"/>
    <p:sldId id="359" r:id="rId47"/>
    <p:sldId id="360" r:id="rId48"/>
    <p:sldId id="361" r:id="rId49"/>
    <p:sldId id="362" r:id="rId50"/>
    <p:sldId id="363" r:id="rId51"/>
    <p:sldId id="36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customXml" Target="../customXml/item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customXml" Target="../customXml/item2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A1871-065E-4B7E-8971-367F0C8DCCBE}" type="datetimeFigureOut">
              <a:rPr lang="en-150" smtClean="0"/>
              <a:t>23/11/2024</a:t>
            </a:fld>
            <a:endParaRPr lang="en-15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15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7FCD2-C49D-4CE6-86C1-0EFF869DE7F8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67974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9AFD1-529E-4467-B4BE-43F035CD561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215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7FCD2-C49D-4CE6-86C1-0EFF869DE7F8}" type="slidenum">
              <a:rPr lang="en-150" smtClean="0"/>
              <a:t>20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641522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7FCD2-C49D-4CE6-86C1-0EFF869DE7F8}" type="slidenum">
              <a:rPr lang="en-150" smtClean="0"/>
              <a:t>45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712800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7FCD2-C49D-4CE6-86C1-0EFF869DE7F8}" type="slidenum">
              <a:rPr lang="en-150" smtClean="0"/>
              <a:t>48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64463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0" y="1410788"/>
            <a:ext cx="12192000" cy="236043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2000"/>
              </a:spcBef>
              <a:buNone/>
              <a:defRPr lang="en-US" sz="440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667691" y="3771220"/>
            <a:ext cx="8856617" cy="124491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3F01C3-6616-486C-91E1-90E867B1AFEC}" type="datetimeFigureOut">
              <a:rPr lang="en-150" smtClean="0"/>
              <a:t>23/11/2024</a:t>
            </a:fld>
            <a:endParaRPr lang="en-15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15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600" kern="120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2790EB4C-D232-410F-8D71-3B396A3BBE33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56804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0" y="1"/>
            <a:ext cx="9209903" cy="110387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 algn="l" defTabSz="914400" rtl="0" eaLnBrk="1" latinLnBrk="0" hangingPunct="1">
              <a:buFont typeface="Wingdings" panose="05000000000000000000" pitchFamily="2" charset="2"/>
              <a:buChar char="Ø"/>
              <a:defRPr lang="tr-TR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>
              <a:defRPr lang="tr-TR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2EA3-EA99-4237-96E2-08CB3CBF8B32}" type="datetime1">
              <a:rPr lang="en-GB" smtClean="0"/>
              <a:t>23/11/2024</a:t>
            </a:fld>
            <a:endParaRPr lang="en-GB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z="1600" smtClean="0">
                <a:solidFill>
                  <a:srgbClr val="0043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AD52523-E2CB-428B-BB44-26998C40B94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79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4416" y="1"/>
            <a:ext cx="10515600" cy="112034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000">
                <a:solidFill>
                  <a:schemeClr val="bg1"/>
                </a:solidFill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 smtClean="0">
                <a:cs typeface="Times New Roman" panose="02020603050405020304" pitchFamily="18" charset="0"/>
              </a:defRPr>
            </a:lvl1pPr>
            <a:lvl2pPr>
              <a:defRPr lang="en-US" dirty="0" smtClean="0">
                <a:cs typeface="Times New Roman" panose="02020603050405020304" pitchFamily="18" charset="0"/>
              </a:defRPr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/>
              <a:t>Click to edit Master text styles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/>
              <a:t>Second level</a:t>
            </a:r>
          </a:p>
          <a:p>
            <a:pPr marL="285750" lvl="2" indent="-285750">
              <a:buFont typeface="Wingdings" panose="05000000000000000000" pitchFamily="2" charset="2"/>
              <a:buChar char="Ø"/>
            </a:pPr>
            <a:r>
              <a:rPr lang="en-US"/>
              <a:t>Third level</a:t>
            </a:r>
          </a:p>
          <a:p>
            <a:pPr marL="285750" lvl="3" indent="-285750">
              <a:buFont typeface="Wingdings" panose="05000000000000000000" pitchFamily="2" charset="2"/>
              <a:buChar char="Ø"/>
            </a:pPr>
            <a:r>
              <a:rPr lang="en-US"/>
              <a:t>Fourth level</a:t>
            </a:r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cs typeface="Times New Roman" panose="02020603050405020304" pitchFamily="18" charset="0"/>
              </a:defRPr>
            </a:lvl1pPr>
            <a:lvl2pPr>
              <a:defRPr lang="en-US" smtClean="0">
                <a:cs typeface="Times New Roman" panose="02020603050405020304" pitchFamily="18" charset="0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/>
              <a:t>Click to edit Master text styles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/>
              <a:t>Second level</a:t>
            </a:r>
          </a:p>
          <a:p>
            <a:pPr marL="285750" lvl="2" indent="-285750">
              <a:buFont typeface="Wingdings" panose="05000000000000000000" pitchFamily="2" charset="2"/>
              <a:buChar char="Ø"/>
            </a:pPr>
            <a:r>
              <a:rPr lang="en-US"/>
              <a:t>Third level</a:t>
            </a:r>
          </a:p>
          <a:p>
            <a:pPr marL="285750" lvl="3" indent="-285750">
              <a:buFont typeface="Wingdings" panose="05000000000000000000" pitchFamily="2" charset="2"/>
              <a:buChar char="Ø"/>
            </a:pPr>
            <a:r>
              <a:rPr lang="en-US"/>
              <a:t>Fourth level</a:t>
            </a:r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n-US"/>
              <a:t>Fifth level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>
              <a:defRPr lang="en-GB" smtClean="0"/>
            </a:lvl1pPr>
          </a:lstStyle>
          <a:p>
            <a:fld id="{C7D69B12-C6DB-4C5C-BF7D-FF109FE48E8A}" type="datetime1">
              <a:rPr lang="en-GB" smtClean="0"/>
              <a:pPr/>
              <a:t>23/11/2024</a:t>
            </a:fld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GB"/>
            </a:lvl1pPr>
          </a:lstStyle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GB" sz="1600" smtClean="0">
                <a:solidFill>
                  <a:srgbClr val="0043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AD52523-E2CB-428B-BB44-26998C40B94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30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91FD-A18F-4FAB-A24A-2A727B309CD3}" type="datetime1">
              <a:rPr lang="en-GB" smtClean="0"/>
              <a:t>23/11/2024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4377"/>
                </a:solidFill>
              </a:defRPr>
            </a:lvl1pPr>
          </a:lstStyle>
          <a:p>
            <a:fld id="{5AD52523-E2CB-428B-BB44-26998C40B94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424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A720-F7DF-4D42-95E3-3B9FF3EE20E3}" type="datetime1">
              <a:rPr lang="en-GB" smtClean="0"/>
              <a:t>23/11/2024</a:t>
            </a:fld>
            <a:endParaRPr lang="en-GB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4377"/>
                </a:solidFill>
              </a:defRPr>
            </a:lvl1pPr>
          </a:lstStyle>
          <a:p>
            <a:fld id="{5AD52523-E2CB-428B-BB44-26998C40B94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36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2243-3D60-46B1-BB37-08D71746E7A2}" type="datetime1">
              <a:rPr lang="en-GB" smtClean="0"/>
              <a:t>23/11/2024</a:t>
            </a:fld>
            <a:endParaRPr lang="en-GB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23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91AE-9C4E-4AC7-9E1C-DC757358D4D9}" type="datetime1">
              <a:rPr lang="en-GB" smtClean="0"/>
              <a:t>23/11/2024</a:t>
            </a:fld>
            <a:endParaRPr lang="en-GB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B41-7137-4A5A-B9FA-44FD37AC1F62}" type="datetime1">
              <a:rPr lang="en-GB" smtClean="0"/>
              <a:t>23/11/2024</a:t>
            </a:fld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735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3EFC-52FC-4F76-9D04-C22F0F86C326}" type="datetime1">
              <a:rPr lang="en-GB" smtClean="0"/>
              <a:t>23/11/2024</a:t>
            </a:fld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64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8A349-E22C-462E-8D91-81AA82054491}" type="datetime1">
              <a:rPr lang="en-GB" smtClean="0"/>
              <a:t>23/11/2024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82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C234-3260-420F-8B75-340372186D0F}" type="datetime1">
              <a:rPr lang="en-GB" smtClean="0"/>
              <a:t>23/11/2024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217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2000"/>
              </a:spcBef>
              <a:buNone/>
              <a:defRPr lang="en-US" sz="4400" kern="120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7A05E-3702-4E4B-9AF2-7B95E26FDB08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600" kern="120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77972332-7499-4DB2-AE95-57DC027C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8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21"/>
          <a:stretch/>
        </p:blipFill>
        <p:spPr>
          <a:xfrm>
            <a:off x="0" y="1414825"/>
            <a:ext cx="12192000" cy="235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77475" cy="1104900"/>
          </a:xfrm>
          <a:prstGeom prst="rect">
            <a:avLst/>
          </a:prstGeom>
        </p:spPr>
      </p:pic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dirty="0"/>
              <a:t>Asıl metin stillerini düzenle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83296745-F162-4053-9B7F-81EF77C4C666}" type="datetime1">
              <a:rPr lang="en-GB" smtClean="0"/>
              <a:pPr/>
              <a:t>23/11/2024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5AD52523-E2CB-428B-BB44-26998C40B94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/>
              <a:t>Asıl başlık stili için tıklatın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72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60.png"/><Relationship Id="rId7" Type="http://schemas.openxmlformats.org/officeDocument/2006/relationships/image" Target="../media/image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figure/Linear-Regression-model-sample-illustration_fig3_333457161" TargetMode="External"/><Relationship Id="rId5" Type="http://schemas.openxmlformats.org/officeDocument/2006/relationships/image" Target="../media/image80.png"/><Relationship Id="rId10" Type="http://schemas.openxmlformats.org/officeDocument/2006/relationships/hyperlink" Target="http://sphweb.bumc.bu.edu/otlt/MPH-Modules/BS/R/R5_Correlation-Regression/R5_Correlation-Regression4.html" TargetMode="External"/><Relationship Id="rId4" Type="http://schemas.openxmlformats.org/officeDocument/2006/relationships/image" Target="../media/image8.ppm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2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20BE-E748-9B93-729A-28CBF88397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 Learning Applications in Python</a:t>
            </a:r>
            <a:endParaRPr lang="en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A54CF-E2FD-6FA0-07BE-1EF96C9A9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7691" y="3771220"/>
            <a:ext cx="8856617" cy="1439877"/>
          </a:xfrm>
        </p:spPr>
        <p:txBody>
          <a:bodyPr/>
          <a:lstStyle/>
          <a:p>
            <a:pPr algn="ctr"/>
            <a:r>
              <a:rPr lang="en-US" dirty="0"/>
              <a:t>Dr. MERT NAKIP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144CD0B-1161-E1B3-BCB2-DFA9417BB9CD}"/>
              </a:ext>
            </a:extLst>
          </p:cNvPr>
          <p:cNvSpPr txBox="1">
            <a:spLocks/>
          </p:cNvSpPr>
          <p:nvPr/>
        </p:nvSpPr>
        <p:spPr>
          <a:xfrm>
            <a:off x="0" y="4834647"/>
            <a:ext cx="12192000" cy="176070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0" u="sng" dirty="0"/>
              <a:t>Reference books: 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b="0" dirty="0"/>
              <a:t>Introduction to Machine Learning with Python, </a:t>
            </a:r>
            <a:r>
              <a:rPr lang="pt-BR" sz="2000" b="0" dirty="0"/>
              <a:t>Andreas C. Müller &amp; Sarah Guido</a:t>
            </a:r>
            <a:endParaRPr lang="en-US" sz="2000" b="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b="0" dirty="0"/>
              <a:t>Deep Learning for Time Series Forecasting, Jason Brownlee</a:t>
            </a:r>
          </a:p>
        </p:txBody>
      </p:sp>
    </p:spTree>
    <p:extLst>
      <p:ext uri="{BB962C8B-B14F-4D97-AF65-F5344CB8AC3E}">
        <p14:creationId xmlns:p14="http://schemas.microsoft.com/office/powerpoint/2010/main" val="3725769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375919" y="0"/>
            <a:ext cx="9560561" cy="1103286"/>
          </a:xfrm>
        </p:spPr>
        <p:txBody>
          <a:bodyPr anchor="ctr"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DATASET / DATA / FEATURE</a:t>
            </a:r>
            <a:endParaRPr lang="tr-TR" sz="4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29272" y="1079263"/>
            <a:ext cx="116856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Dataset: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 collection of data.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The dataset includes the information about the application and the environment of the application.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Data: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Data are simply units of information.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Data is being collected by sensing device or organ that includes both useful and irrelevant or redundant information and must be processed to be meaningful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Feature: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 single point of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Feature is an individual measurable property or characteristic of a phenomenon being observed.</a:t>
            </a:r>
          </a:p>
        </p:txBody>
      </p:sp>
    </p:spTree>
    <p:extLst>
      <p:ext uri="{BB962C8B-B14F-4D97-AF65-F5344CB8AC3E}">
        <p14:creationId xmlns:p14="http://schemas.microsoft.com/office/powerpoint/2010/main" val="281100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00891" y="1271443"/>
            <a:ext cx="10515600" cy="486150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PROBLEM: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Classification: Dogs vs. Cats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Data: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</a:t>
            </a:r>
          </a:p>
        </p:txBody>
      </p:sp>
      <p:graphicFrame>
        <p:nvGraphicFramePr>
          <p:cNvPr id="4" name="Tablo 3"/>
          <p:cNvGraphicFramePr>
            <a:graphicFrameLocks noGrp="1"/>
          </p:cNvGraphicFramePr>
          <p:nvPr/>
        </p:nvGraphicFramePr>
        <p:xfrm>
          <a:off x="1505525" y="2342715"/>
          <a:ext cx="9070111" cy="360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9">
                  <a:extLst>
                    <a:ext uri="{9D8B030D-6E8A-4147-A177-3AD203B41FA5}">
                      <a16:colId xmlns:a16="http://schemas.microsoft.com/office/drawing/2014/main" val="81924247"/>
                    </a:ext>
                  </a:extLst>
                </a:gridCol>
                <a:gridCol w="2734993">
                  <a:extLst>
                    <a:ext uri="{9D8B030D-6E8A-4147-A177-3AD203B41FA5}">
                      <a16:colId xmlns:a16="http://schemas.microsoft.com/office/drawing/2014/main" val="1938553988"/>
                    </a:ext>
                  </a:extLst>
                </a:gridCol>
                <a:gridCol w="2306285">
                  <a:extLst>
                    <a:ext uri="{9D8B030D-6E8A-4147-A177-3AD203B41FA5}">
                      <a16:colId xmlns:a16="http://schemas.microsoft.com/office/drawing/2014/main" val="2526243046"/>
                    </a:ext>
                  </a:extLst>
                </a:gridCol>
                <a:gridCol w="1820764">
                  <a:extLst>
                    <a:ext uri="{9D8B030D-6E8A-4147-A177-3AD203B41FA5}">
                      <a16:colId xmlns:a16="http://schemas.microsoft.com/office/drawing/2014/main" val="2732020601"/>
                    </a:ext>
                  </a:extLst>
                </a:gridCol>
              </a:tblGrid>
              <a:tr h="492985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Teeth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Does</a:t>
                      </a:r>
                      <a:r>
                        <a:rPr lang="en-US" baseline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have tail?</a:t>
                      </a:r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787190"/>
                  </a:ext>
                </a:extLst>
              </a:tr>
              <a:tr h="332469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Yellow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27452"/>
                  </a:ext>
                </a:extLst>
              </a:tr>
              <a:tr h="332469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Black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61596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Brown &amp;</a:t>
                      </a:r>
                      <a:r>
                        <a:rPr lang="en-US" baseline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White</a:t>
                      </a:r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137648"/>
                  </a:ext>
                </a:extLst>
              </a:tr>
              <a:tr h="332469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Black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43645"/>
                  </a:ext>
                </a:extLst>
              </a:tr>
              <a:tr h="332469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Yellow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744587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Black &amp;</a:t>
                      </a:r>
                      <a:r>
                        <a:rPr lang="en-US" baseline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Brown</a:t>
                      </a:r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33977"/>
                  </a:ext>
                </a:extLst>
              </a:tr>
              <a:tr h="332469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Brown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573944"/>
                  </a:ext>
                </a:extLst>
              </a:tr>
            </a:tbl>
          </a:graphicData>
        </a:graphic>
      </p:graphicFrame>
      <p:cxnSp>
        <p:nvCxnSpPr>
          <p:cNvPr id="6" name="Düz Bağlayıcı 5"/>
          <p:cNvCxnSpPr/>
          <p:nvPr/>
        </p:nvCxnSpPr>
        <p:spPr>
          <a:xfrm flipH="1">
            <a:off x="6428509" y="2342715"/>
            <a:ext cx="2225965" cy="348542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Düz Bağlayıcı 7"/>
          <p:cNvCxnSpPr/>
          <p:nvPr/>
        </p:nvCxnSpPr>
        <p:spPr>
          <a:xfrm flipH="1" flipV="1">
            <a:off x="6428509" y="2342715"/>
            <a:ext cx="2299856" cy="34115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Düz Bağlayıcı 12"/>
          <p:cNvCxnSpPr/>
          <p:nvPr/>
        </p:nvCxnSpPr>
        <p:spPr>
          <a:xfrm>
            <a:off x="3897745" y="4645892"/>
            <a:ext cx="609602" cy="886691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Düz Bağlayıcı 14"/>
          <p:cNvCxnSpPr/>
          <p:nvPr/>
        </p:nvCxnSpPr>
        <p:spPr>
          <a:xfrm flipV="1">
            <a:off x="4507347" y="3094183"/>
            <a:ext cx="1422398" cy="243840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8993907" y="2885705"/>
            <a:ext cx="176414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18" name="Metin kutusu 17"/>
          <p:cNvSpPr txBox="1"/>
          <p:nvPr/>
        </p:nvSpPr>
        <p:spPr>
          <a:xfrm>
            <a:off x="-1" y="6051137"/>
            <a:ext cx="8728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need feature selection methods in order to select important features.</a:t>
            </a:r>
          </a:p>
        </p:txBody>
      </p:sp>
    </p:spTree>
    <p:extLst>
      <p:ext uri="{BB962C8B-B14F-4D97-AF65-F5344CB8AC3E}">
        <p14:creationId xmlns:p14="http://schemas.microsoft.com/office/powerpoint/2010/main" val="271027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1FF5-E478-FC30-D28A-D782B89E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Unsupervised Learning</a:t>
            </a:r>
            <a:br>
              <a:rPr lang="en-US" dirty="0"/>
            </a:br>
            <a:r>
              <a:rPr lang="en-US" dirty="0"/>
              <a:t>K-means Clustering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55AC1-86FE-5F5C-0E71-C014FED8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D5264-60C2-4CEC-E133-5BDF619F5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553" y="2421151"/>
            <a:ext cx="78867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7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1FF5-E478-FC30-D28A-D782B89E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Unsupervised Learning</a:t>
            </a:r>
            <a:br>
              <a:rPr lang="en-US" dirty="0"/>
            </a:br>
            <a:r>
              <a:rPr lang="en-US" dirty="0"/>
              <a:t>Principal Component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55AC1-86FE-5F5C-0E71-C014FED8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F58666-CE5C-51B4-1F8D-A67F292A0F8E}"/>
              </a:ext>
            </a:extLst>
          </p:cNvPr>
          <p:cNvSpPr txBox="1">
            <a:spLocks/>
          </p:cNvSpPr>
          <p:nvPr/>
        </p:nvSpPr>
        <p:spPr>
          <a:xfrm>
            <a:off x="132132" y="3738349"/>
            <a:ext cx="11139791" cy="496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AA262FB-C92C-5125-CCE0-975033D03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32" y="4136152"/>
            <a:ext cx="1134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F57B88E3-EC49-6980-734B-6C3514253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32" y="2130915"/>
            <a:ext cx="113497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Dimensionality Reduction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Simplifies models by reducing the number of features, which can improve computational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Visualization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Helps in visualizing high-dimensional data by projecting it into 2D or 3D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Noise Reduction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Removes less important features, which can reduce the effect of noise in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Avoiding Overfitting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Reduces the risk of overfitting by limiting the number of features used in a model.</a:t>
            </a:r>
          </a:p>
        </p:txBody>
      </p:sp>
    </p:spTree>
    <p:extLst>
      <p:ext uri="{BB962C8B-B14F-4D97-AF65-F5344CB8AC3E}">
        <p14:creationId xmlns:p14="http://schemas.microsoft.com/office/powerpoint/2010/main" val="52037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1FF5-E478-FC30-D28A-D782B89E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Unsupervised Learning</a:t>
            </a:r>
            <a:br>
              <a:rPr lang="en-US" dirty="0"/>
            </a:br>
            <a:r>
              <a:rPr lang="en-US" dirty="0"/>
              <a:t>Principal Component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55AC1-86FE-5F5C-0E71-C014FED8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F58666-CE5C-51B4-1F8D-A67F292A0F8E}"/>
              </a:ext>
            </a:extLst>
          </p:cNvPr>
          <p:cNvSpPr txBox="1">
            <a:spLocks/>
          </p:cNvSpPr>
          <p:nvPr/>
        </p:nvSpPr>
        <p:spPr>
          <a:xfrm>
            <a:off x="132132" y="3738349"/>
            <a:ext cx="11139791" cy="496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AA262FB-C92C-5125-CCE0-975033D03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7" y="1308807"/>
            <a:ext cx="113497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Standardization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Scale the data so that each feature contributes equally to the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This is usually done by centering (subtracting the mean) and scaling (dividing by the standard deviation).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Covariance Matrix Calculation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Calculate the covariance matrix to understand how features relate to each 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This matrix reveals the variance and the relationships between different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Eigenvalues and Eigenvectors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Compute the eigenvalues and eigenvectors from the covariance matrix.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Eigenvalues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represent the magnitude of variance explained by each principal component.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Eigenvectors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define the direction of the principal 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Principal Components Selection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Sort the eigenvalues in descending order and select the top components that account for the most variance.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corresponding eigenvectors are the principal 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Projecting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Transform the original data onto the new axes defined by the selected principal components.</a:t>
            </a:r>
          </a:p>
        </p:txBody>
      </p:sp>
    </p:spTree>
    <p:extLst>
      <p:ext uri="{BB962C8B-B14F-4D97-AF65-F5344CB8AC3E}">
        <p14:creationId xmlns:p14="http://schemas.microsoft.com/office/powerpoint/2010/main" val="379166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79B4-1B35-C41A-FCB9-2FE01ED88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A0A72-3135-95DB-537D-F19122F2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A741C3-CF0D-7D5A-DC0D-014901AA0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16" y="1120347"/>
            <a:ext cx="3999054" cy="32969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BB1F8E-629A-F16B-7B39-581D7A17FB49}"/>
              </a:ext>
            </a:extLst>
          </p:cNvPr>
          <p:cNvSpPr txBox="1"/>
          <p:nvPr/>
        </p:nvSpPr>
        <p:spPr>
          <a:xfrm>
            <a:off x="5381918" y="1278036"/>
            <a:ext cx="672505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from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sklearn.datasets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import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load_iris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pl-PL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=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load_iris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()</a:t>
            </a: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print(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['DESCR'][:193] + "\n...")   </a:t>
            </a: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print("Keys of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: \n{}".format(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iris_dataset.keys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()))</a:t>
            </a: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print("Feature names: \n{}".format(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['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feature_names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'])) 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print("Target names: {}".format(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['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target_names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'])) </a:t>
            </a: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print("Type of data: {}".format(type(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['data']))) </a:t>
            </a: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print("Shape of data: {}".format(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['data'].shape)) </a:t>
            </a: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print("First five columns of data:\n{}".format(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['data'][:5]))</a:t>
            </a: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print("Target:\n{}".format(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iris_dataset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['target']))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832707-1F0F-587B-2A6D-42DDB2A70073}"/>
              </a:ext>
            </a:extLst>
          </p:cNvPr>
          <p:cNvSpPr txBox="1"/>
          <p:nvPr/>
        </p:nvSpPr>
        <p:spPr>
          <a:xfrm>
            <a:off x="3317854" y="5186798"/>
            <a:ext cx="19246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Different Species of Irises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BA08E1-4CC2-A6C4-C699-AF843E3C0B10}"/>
              </a:ext>
            </a:extLst>
          </p:cNvPr>
          <p:cNvSpPr txBox="1"/>
          <p:nvPr/>
        </p:nvSpPr>
        <p:spPr>
          <a:xfrm>
            <a:off x="127182" y="5032911"/>
            <a:ext cx="19246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Petal and Sepal Related Features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612DEE4-FD10-5673-9A84-D504D2FE929F}"/>
              </a:ext>
            </a:extLst>
          </p:cNvPr>
          <p:cNvSpPr/>
          <p:nvPr/>
        </p:nvSpPr>
        <p:spPr>
          <a:xfrm>
            <a:off x="2352208" y="5490348"/>
            <a:ext cx="653374" cy="408561"/>
          </a:xfrm>
          <a:prstGeom prst="rightArrow">
            <a:avLst/>
          </a:prstGeom>
          <a:solidFill>
            <a:srgbClr val="00437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0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3843-79FD-061B-2027-4CADA83B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ECC63-6AB4-63F7-8E05-0B030C98B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4281" y="1345394"/>
            <a:ext cx="6197471" cy="4785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1600" dirty="0"/>
              <a:t>import pandas as pd</a:t>
            </a:r>
          </a:p>
          <a:p>
            <a:pPr marL="0" indent="0">
              <a:buNone/>
            </a:pPr>
            <a:endParaRPr lang="pl-PL" sz="1600" dirty="0"/>
          </a:p>
          <a:p>
            <a:pPr marL="0" indent="0">
              <a:buNone/>
            </a:pPr>
            <a:r>
              <a:rPr lang="en-US" sz="1600" dirty="0"/>
              <a:t>X = </a:t>
            </a:r>
            <a:r>
              <a:rPr lang="en-US" sz="1600" dirty="0" err="1"/>
              <a:t>iris_dataset</a:t>
            </a:r>
            <a:r>
              <a:rPr lang="en-US" sz="1600" dirty="0"/>
              <a:t>['data’]</a:t>
            </a:r>
          </a:p>
          <a:p>
            <a:pPr marL="0" indent="0">
              <a:buNone/>
            </a:pPr>
            <a:r>
              <a:rPr lang="en-US" sz="1600" dirty="0"/>
              <a:t>Y = </a:t>
            </a:r>
            <a:r>
              <a:rPr lang="en-US" sz="1600" dirty="0" err="1"/>
              <a:t>iris_dataset</a:t>
            </a:r>
            <a:r>
              <a:rPr lang="en-US" sz="1600" dirty="0"/>
              <a:t>[‘target']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iris_dataframe</a:t>
            </a:r>
            <a:r>
              <a:rPr lang="en-US" sz="1600" dirty="0"/>
              <a:t> = </a:t>
            </a:r>
            <a:r>
              <a:rPr lang="en-US" sz="1600" dirty="0" err="1"/>
              <a:t>pd.DataFrame</a:t>
            </a:r>
            <a:r>
              <a:rPr lang="en-US" sz="1600" dirty="0"/>
              <a:t>(X, columns=</a:t>
            </a:r>
            <a:r>
              <a:rPr lang="en-US" sz="1600" dirty="0" err="1"/>
              <a:t>iris_dataset.feature_names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grr = pd.</a:t>
            </a:r>
            <a:r>
              <a:rPr lang="pl-PL" sz="1600" dirty="0"/>
              <a:t>plotting.</a:t>
            </a:r>
            <a:r>
              <a:rPr lang="en-US" sz="1600" dirty="0" err="1"/>
              <a:t>scatter_matrix</a:t>
            </a:r>
            <a:r>
              <a:rPr lang="en-US" sz="1600" dirty="0"/>
              <a:t>(</a:t>
            </a:r>
            <a:r>
              <a:rPr lang="en-US" sz="1600" dirty="0" err="1"/>
              <a:t>iris_dataframe</a:t>
            </a:r>
            <a:r>
              <a:rPr lang="en-US" sz="1600" dirty="0"/>
              <a:t>, c=y, </a:t>
            </a:r>
            <a:r>
              <a:rPr lang="en-US" sz="1600" dirty="0" err="1"/>
              <a:t>figsize</a:t>
            </a:r>
            <a:r>
              <a:rPr lang="en-US" sz="1600" dirty="0"/>
              <a:t>=(10, 10), marker='o', </a:t>
            </a:r>
            <a:r>
              <a:rPr lang="en-US" sz="1600" dirty="0" err="1"/>
              <a:t>hist_kwds</a:t>
            </a:r>
            <a:r>
              <a:rPr lang="en-US" sz="1600" dirty="0"/>
              <a:t>={'bins': 20</a:t>
            </a:r>
            <a:r>
              <a:rPr lang="pl-PL" sz="1600" dirty="0"/>
              <a:t>}</a:t>
            </a:r>
            <a:r>
              <a:rPr lang="en-US" sz="1600" dirty="0"/>
              <a:t>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9A85B-4B79-1E00-34D5-B816FA4B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C50B82-F680-83C6-A718-302386AAF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8" y="1277497"/>
            <a:ext cx="5473112" cy="536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74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1FFF-4000-93AC-AB5A-73E3A67C4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2FC27-F728-E3A5-9F8C-C5B222BB0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5358" y="1339242"/>
            <a:ext cx="11128442" cy="5226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from </a:t>
            </a:r>
            <a:r>
              <a:rPr lang="en-US" sz="1600" dirty="0" err="1"/>
              <a:t>sklearn.decomposition</a:t>
            </a:r>
            <a:r>
              <a:rPr lang="en-US" sz="1600" dirty="0"/>
              <a:t> import PCA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pt-BR" sz="1600" dirty="0"/>
              <a:t>pca = PCA(n_components=2)</a:t>
            </a:r>
          </a:p>
          <a:p>
            <a:pPr marL="0" indent="0">
              <a:buNone/>
            </a:pPr>
            <a:r>
              <a:rPr lang="fr-FR" sz="1600" dirty="0" err="1"/>
              <a:t>X_pca</a:t>
            </a:r>
            <a:r>
              <a:rPr lang="fr-FR" sz="1600" dirty="0"/>
              <a:t> = </a:t>
            </a:r>
            <a:r>
              <a:rPr lang="fr-FR" sz="1600" dirty="0" err="1"/>
              <a:t>pca.fit_transform</a:t>
            </a:r>
            <a:r>
              <a:rPr lang="fr-FR" sz="1600" dirty="0"/>
              <a:t>(X)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import </a:t>
            </a:r>
            <a:r>
              <a:rPr lang="en-US" sz="1600" dirty="0" err="1"/>
              <a:t>matplotlib.pyplot</a:t>
            </a:r>
            <a:r>
              <a:rPr lang="en-US" sz="1600" dirty="0"/>
              <a:t> as </a:t>
            </a:r>
            <a:r>
              <a:rPr lang="en-US" sz="1600" dirty="0" err="1"/>
              <a:t>plt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plt.figure</a:t>
            </a:r>
            <a:r>
              <a:rPr lang="en-US" sz="1600" dirty="0"/>
              <a:t>(</a:t>
            </a:r>
            <a:r>
              <a:rPr lang="en-US" sz="1600" dirty="0" err="1"/>
              <a:t>figsize</a:t>
            </a:r>
            <a:r>
              <a:rPr lang="en-US" sz="1600" dirty="0"/>
              <a:t>=(</a:t>
            </a:r>
            <a:r>
              <a:rPr lang="pl-PL" sz="1600" dirty="0"/>
              <a:t>(10, 5</a:t>
            </a:r>
            <a:r>
              <a:rPr lang="en-US" sz="1600" dirty="0"/>
              <a:t>))</a:t>
            </a:r>
          </a:p>
          <a:p>
            <a:pPr marL="0" indent="0">
              <a:buNone/>
            </a:pPr>
            <a:r>
              <a:rPr lang="en-US" sz="1600" dirty="0" err="1"/>
              <a:t>plt.scatter</a:t>
            </a:r>
            <a:r>
              <a:rPr lang="en-US" sz="1600" dirty="0"/>
              <a:t>(</a:t>
            </a:r>
            <a:r>
              <a:rPr lang="en-US" sz="1600" dirty="0" err="1"/>
              <a:t>X_pca</a:t>
            </a:r>
            <a:r>
              <a:rPr lang="en-US" sz="1600" dirty="0"/>
              <a:t>[:, 0], </a:t>
            </a:r>
            <a:r>
              <a:rPr lang="en-US" sz="1600" dirty="0" err="1"/>
              <a:t>X_pca</a:t>
            </a:r>
            <a:r>
              <a:rPr lang="en-US" sz="1600" dirty="0"/>
              <a:t>[:, 1], c=</a:t>
            </a:r>
            <a:r>
              <a:rPr lang="pl-PL" sz="1600" dirty="0"/>
              <a:t>y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 err="1"/>
              <a:t>plt.xlabel</a:t>
            </a:r>
            <a:r>
              <a:rPr lang="en-US" sz="1600" dirty="0"/>
              <a:t>('Principal Component 1’)</a:t>
            </a:r>
          </a:p>
          <a:p>
            <a:pPr marL="0" indent="0">
              <a:buNone/>
            </a:pPr>
            <a:r>
              <a:rPr lang="en-US" sz="1600" dirty="0" err="1"/>
              <a:t>plt.ylabel</a:t>
            </a:r>
            <a:r>
              <a:rPr lang="en-US" sz="1600" dirty="0"/>
              <a:t>('Principal Component 2’)</a:t>
            </a:r>
          </a:p>
          <a:p>
            <a:pPr marL="0" indent="0">
              <a:buNone/>
            </a:pPr>
            <a:r>
              <a:rPr lang="en-US" sz="1600" dirty="0" err="1"/>
              <a:t>plt.title</a:t>
            </a:r>
            <a:r>
              <a:rPr lang="en-US" sz="1600" dirty="0"/>
              <a:t>('PCA of Iris Dataset’) </a:t>
            </a:r>
            <a:endParaRPr lang="pl-PL" sz="1600" dirty="0"/>
          </a:p>
          <a:p>
            <a:pPr marL="0" indent="0">
              <a:buNone/>
            </a:pPr>
            <a:r>
              <a:rPr lang="en-US" sz="1600" dirty="0" err="1"/>
              <a:t>plt.show</a:t>
            </a:r>
            <a:r>
              <a:rPr lang="en-US" sz="1600" dirty="0"/>
              <a:t>()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6017E-3E11-03A6-43E2-3B214016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43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1FFF-4000-93AC-AB5A-73E3A67C4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2FC27-F728-E3A5-9F8C-C5B222BB0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5358" y="1498059"/>
            <a:ext cx="11128442" cy="5359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from </a:t>
            </a:r>
            <a:r>
              <a:rPr lang="en-US" sz="1600" dirty="0" err="1"/>
              <a:t>sklearn.model_selection</a:t>
            </a:r>
            <a:r>
              <a:rPr lang="en-US" sz="1600" dirty="0"/>
              <a:t> import </a:t>
            </a:r>
            <a:r>
              <a:rPr lang="en-US" sz="1600" dirty="0" err="1"/>
              <a:t>train_test_split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r>
              <a:rPr lang="en-US" sz="1600" dirty="0"/>
              <a:t>from </a:t>
            </a:r>
            <a:r>
              <a:rPr lang="en-US" sz="1600" dirty="0" err="1"/>
              <a:t>sklearn.cluster</a:t>
            </a:r>
            <a:r>
              <a:rPr lang="en-US" sz="1600" dirty="0"/>
              <a:t> import </a:t>
            </a:r>
            <a:r>
              <a:rPr lang="en-US" sz="1600" dirty="0" err="1"/>
              <a:t>KMeans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X_test</a:t>
            </a:r>
            <a:r>
              <a:rPr lang="en-US" sz="1600" dirty="0"/>
              <a:t>, </a:t>
            </a:r>
            <a:r>
              <a:rPr lang="en-US" sz="1600" dirty="0" err="1"/>
              <a:t>y_train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 = </a:t>
            </a:r>
            <a:r>
              <a:rPr lang="en-US" sz="1600" dirty="0" err="1"/>
              <a:t>train_test_split</a:t>
            </a:r>
            <a:r>
              <a:rPr lang="en-US" sz="1600" dirty="0"/>
              <a:t>(X, y, </a:t>
            </a:r>
            <a:r>
              <a:rPr lang="en-US" sz="1600" dirty="0" err="1"/>
              <a:t>test_size</a:t>
            </a:r>
            <a:r>
              <a:rPr lang="en-US" sz="1600" dirty="0"/>
              <a:t>=0.3, </a:t>
            </a:r>
            <a:r>
              <a:rPr lang="en-US" sz="1600" dirty="0" err="1"/>
              <a:t>random_state</a:t>
            </a:r>
            <a:r>
              <a:rPr lang="en-US" sz="1600" dirty="0"/>
              <a:t>=0)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kmeans</a:t>
            </a:r>
            <a:r>
              <a:rPr lang="en-US" sz="1600" dirty="0"/>
              <a:t> = </a:t>
            </a:r>
            <a:r>
              <a:rPr lang="en-US" sz="1600" dirty="0" err="1"/>
              <a:t>KMeans</a:t>
            </a:r>
            <a:r>
              <a:rPr lang="en-US" sz="1600" dirty="0"/>
              <a:t>(</a:t>
            </a:r>
            <a:r>
              <a:rPr lang="en-US" sz="1600" dirty="0" err="1"/>
              <a:t>n_clusters</a:t>
            </a:r>
            <a:r>
              <a:rPr lang="en-US" sz="1600" dirty="0"/>
              <a:t>=3, </a:t>
            </a:r>
            <a:r>
              <a:rPr lang="en-US" sz="1600" dirty="0" err="1"/>
              <a:t>random_state</a:t>
            </a:r>
            <a:r>
              <a:rPr lang="en-US" sz="1600" dirty="0"/>
              <a:t>=0).fit (</a:t>
            </a:r>
            <a:r>
              <a:rPr lang="en-US" sz="1600" dirty="0" err="1"/>
              <a:t>X_train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 err="1"/>
              <a:t>cluster_centers</a:t>
            </a:r>
            <a:r>
              <a:rPr lang="en-US" sz="1600" dirty="0"/>
              <a:t> = </a:t>
            </a:r>
            <a:r>
              <a:rPr lang="en-US" sz="1600" dirty="0" err="1"/>
              <a:t>kmeans</a:t>
            </a:r>
            <a:r>
              <a:rPr lang="en-US" sz="1600" dirty="0"/>
              <a:t>. </a:t>
            </a:r>
            <a:r>
              <a:rPr lang="en-US" sz="1600" dirty="0" err="1"/>
              <a:t>cluster_centers</a:t>
            </a:r>
            <a:r>
              <a:rPr lang="en-US" sz="1600" dirty="0"/>
              <a:t>_</a:t>
            </a:r>
          </a:p>
          <a:p>
            <a:pPr marL="0" indent="0">
              <a:buNone/>
            </a:pPr>
            <a:r>
              <a:rPr lang="en-US" sz="1600" dirty="0"/>
              <a:t>print(</a:t>
            </a:r>
            <a:r>
              <a:rPr lang="en-US" sz="1600" dirty="0" err="1"/>
              <a:t>cluster_centers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y_pred</a:t>
            </a:r>
            <a:r>
              <a:rPr lang="en-US" sz="1600" dirty="0"/>
              <a:t> = </a:t>
            </a:r>
            <a:r>
              <a:rPr lang="en-US" sz="1600" dirty="0" err="1"/>
              <a:t>kmeans.predict</a:t>
            </a:r>
            <a:r>
              <a:rPr lang="en-US" sz="1600" dirty="0"/>
              <a:t>(</a:t>
            </a:r>
            <a:r>
              <a:rPr lang="en-US" sz="1600" dirty="0" err="1"/>
              <a:t>X_test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y_pred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='K-Means')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6017E-3E11-03A6-43E2-3B214016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A39825-258F-D7C1-632E-089EA5EC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594" y="3886495"/>
            <a:ext cx="5202048" cy="285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84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53BA-B301-A986-5E70-F9DC7AF4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Function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77340-A1E8-D5BD-4200-D95CD153A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774" y="1825625"/>
            <a:ext cx="108130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def </a:t>
            </a:r>
            <a:r>
              <a:rPr lang="en-US" sz="1800" dirty="0" err="1"/>
              <a:t>plot_classification</a:t>
            </a:r>
            <a:r>
              <a:rPr lang="en-US" sz="1800" dirty="0"/>
              <a:t>(</a:t>
            </a:r>
            <a:r>
              <a:rPr lang="en-US" sz="1800" dirty="0" err="1"/>
              <a:t>y_pred</a:t>
            </a:r>
            <a:r>
              <a:rPr lang="en-US" sz="1800" dirty="0"/>
              <a:t>, </a:t>
            </a:r>
            <a:r>
              <a:rPr lang="en-US" sz="1800" dirty="0" err="1"/>
              <a:t>y_true</a:t>
            </a:r>
            <a:r>
              <a:rPr lang="en-US" sz="1800" dirty="0"/>
              <a:t>, </a:t>
            </a:r>
            <a:r>
              <a:rPr lang="en-US" sz="1800" dirty="0" err="1"/>
              <a:t>model_name</a:t>
            </a:r>
            <a:r>
              <a:rPr lang="en-US" sz="1800" dirty="0"/>
              <a:t>):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err="1"/>
              <a:t>plt.figure</a:t>
            </a:r>
            <a:r>
              <a:rPr lang="en-US" sz="1800" dirty="0"/>
              <a:t>(</a:t>
            </a:r>
            <a:r>
              <a:rPr lang="en-US" sz="1800" dirty="0" err="1"/>
              <a:t>figsize</a:t>
            </a:r>
            <a:r>
              <a:rPr lang="en-US" sz="1800" dirty="0"/>
              <a:t>=(10, 5))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err="1"/>
              <a:t>plt.scatter</a:t>
            </a:r>
            <a:r>
              <a:rPr lang="en-US" sz="1800" dirty="0"/>
              <a:t>(range(</a:t>
            </a:r>
            <a:r>
              <a:rPr lang="en-US" sz="1800" dirty="0" err="1"/>
              <a:t>len</a:t>
            </a:r>
            <a:r>
              <a:rPr lang="en-US" sz="1800" dirty="0"/>
              <a:t>(</a:t>
            </a:r>
            <a:r>
              <a:rPr lang="en-US" sz="1800" dirty="0" err="1"/>
              <a:t>y_pred</a:t>
            </a:r>
            <a:r>
              <a:rPr lang="en-US" sz="1800" dirty="0"/>
              <a:t>)), </a:t>
            </a:r>
            <a:r>
              <a:rPr lang="en-US" sz="1800" dirty="0" err="1"/>
              <a:t>y_pred</a:t>
            </a:r>
            <a:r>
              <a:rPr lang="en-US" sz="1800" dirty="0"/>
              <a:t>, marker='o', c=</a:t>
            </a:r>
            <a:r>
              <a:rPr lang="en-US" sz="1800" dirty="0" err="1"/>
              <a:t>y_true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err="1"/>
              <a:t>plt.xlabel</a:t>
            </a:r>
            <a:r>
              <a:rPr lang="en-US" sz="1800" dirty="0"/>
              <a:t>('Test Samples')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err="1"/>
              <a:t>plt.ylabel</a:t>
            </a:r>
            <a:r>
              <a:rPr lang="en-US" sz="1800" dirty="0"/>
              <a:t>('Predicted Classes')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err="1"/>
              <a:t>plt.title</a:t>
            </a:r>
            <a:r>
              <a:rPr lang="en-US" sz="1800" dirty="0"/>
              <a:t>('Classification via '+</a:t>
            </a:r>
            <a:r>
              <a:rPr lang="en-US" sz="1800" dirty="0" err="1"/>
              <a:t>model_name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err="1"/>
              <a:t>plt.show</a:t>
            </a:r>
            <a:r>
              <a:rPr lang="en-US" sz="1800" dirty="0"/>
              <a:t>()</a:t>
            </a:r>
            <a:endParaRPr lang="en-150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78B23-58E0-92B9-705C-9D1ABE6D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225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2FE6-4769-6CE6-03DB-71C851F8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Clusters of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20AD8-6FB4-5EFC-BE8F-DC2759A46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740" y="1235413"/>
            <a:ext cx="11023060" cy="548606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from </a:t>
            </a:r>
            <a:r>
              <a:rPr lang="en-US" sz="1600" dirty="0" err="1"/>
              <a:t>scipy.spatial.distance</a:t>
            </a:r>
            <a:r>
              <a:rPr lang="en-US" sz="1600" dirty="0"/>
              <a:t> import </a:t>
            </a:r>
            <a:r>
              <a:rPr lang="en-US" sz="1600" dirty="0" err="1"/>
              <a:t>cdist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centers = </a:t>
            </a:r>
            <a:r>
              <a:rPr lang="en-US" sz="1600" dirty="0" err="1"/>
              <a:t>kmeans.cluster_centers</a:t>
            </a:r>
            <a:r>
              <a:rPr lang="en-US" sz="1600" dirty="0"/>
              <a:t>_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centers_pca</a:t>
            </a:r>
            <a:r>
              <a:rPr lang="en-US" sz="1600" dirty="0"/>
              <a:t> = </a:t>
            </a:r>
            <a:r>
              <a:rPr lang="en-US" sz="1600" dirty="0" err="1"/>
              <a:t>pca.transform</a:t>
            </a:r>
            <a:r>
              <a:rPr lang="en-US" sz="1600" dirty="0"/>
              <a:t>(centers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radii = []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in range(</a:t>
            </a:r>
            <a:r>
              <a:rPr lang="en-US" sz="1600" dirty="0" err="1"/>
              <a:t>kmeans.n_clusters</a:t>
            </a:r>
            <a:r>
              <a:rPr lang="en-US" sz="1600" dirty="0"/>
              <a:t>):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	</a:t>
            </a:r>
            <a:r>
              <a:rPr lang="en-US" sz="1600" dirty="0" err="1"/>
              <a:t>points_in_cluster</a:t>
            </a:r>
            <a:r>
              <a:rPr lang="en-US" sz="1600" dirty="0"/>
              <a:t> = </a:t>
            </a:r>
            <a:r>
              <a:rPr lang="en-US" sz="1600" dirty="0" err="1"/>
              <a:t>X_pca</a:t>
            </a:r>
            <a:r>
              <a:rPr lang="en-US" sz="1600" dirty="0"/>
              <a:t>[labels == </a:t>
            </a:r>
            <a:r>
              <a:rPr lang="en-US" sz="1600" dirty="0" err="1"/>
              <a:t>i</a:t>
            </a:r>
            <a:r>
              <a:rPr lang="en-US" sz="1600" dirty="0"/>
              <a:t>]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	distances = </a:t>
            </a:r>
            <a:r>
              <a:rPr lang="en-US" sz="1600" dirty="0" err="1"/>
              <a:t>cdist</a:t>
            </a:r>
            <a:r>
              <a:rPr lang="en-US" sz="1600" dirty="0"/>
              <a:t>([</a:t>
            </a:r>
            <a:r>
              <a:rPr lang="en-US" sz="1600" dirty="0" err="1"/>
              <a:t>centers_pca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]], </a:t>
            </a:r>
            <a:r>
              <a:rPr lang="en-US" sz="1600" dirty="0" err="1"/>
              <a:t>points_in_cluster</a:t>
            </a:r>
            <a:r>
              <a:rPr lang="en-US" sz="1600" dirty="0"/>
              <a:t>, '</a:t>
            </a:r>
            <a:r>
              <a:rPr lang="en-US" sz="1600" dirty="0" err="1"/>
              <a:t>euclidean</a:t>
            </a:r>
            <a:r>
              <a:rPr lang="en-US" sz="1600" dirty="0"/>
              <a:t>’)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	</a:t>
            </a:r>
            <a:r>
              <a:rPr lang="en-US" sz="1600" dirty="0" err="1"/>
              <a:t>radii.append</a:t>
            </a:r>
            <a:r>
              <a:rPr lang="en-US" sz="1600" dirty="0"/>
              <a:t>(</a:t>
            </a:r>
            <a:r>
              <a:rPr lang="en-US" sz="1600" dirty="0" err="1"/>
              <a:t>distances.max</a:t>
            </a:r>
            <a:r>
              <a:rPr lang="en-US" sz="1600" dirty="0"/>
              <a:t>())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1C888-3A47-F88B-C1DF-36380901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690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2FE6-4769-6CE6-03DB-71C851F8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Clusters of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20AD8-6FB4-5EFC-BE8F-DC2759A46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740" y="1245140"/>
            <a:ext cx="11861260" cy="547633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plt.figure</a:t>
            </a:r>
            <a:r>
              <a:rPr lang="en-US" sz="1600" dirty="0"/>
              <a:t>(</a:t>
            </a:r>
            <a:r>
              <a:rPr lang="en-US" sz="1600" dirty="0" err="1"/>
              <a:t>figsize</a:t>
            </a:r>
            <a:r>
              <a:rPr lang="en-US" sz="1600" dirty="0"/>
              <a:t>=(10, 5))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sns.scatterplot</a:t>
            </a:r>
            <a:r>
              <a:rPr lang="en-US" sz="1600" dirty="0"/>
              <a:t>(x='PC1', y='PC2', hue='Cluster', data=</a:t>
            </a:r>
            <a:r>
              <a:rPr lang="en-US" sz="1600" dirty="0" err="1"/>
              <a:t>df</a:t>
            </a:r>
            <a:r>
              <a:rPr lang="en-US" sz="1600" dirty="0"/>
              <a:t>, palette='</a:t>
            </a:r>
            <a:r>
              <a:rPr lang="en-US" sz="1600" dirty="0" err="1"/>
              <a:t>viridis</a:t>
            </a:r>
            <a:r>
              <a:rPr lang="en-US" sz="1600" dirty="0"/>
              <a:t>', marker='o', s=100, </a:t>
            </a:r>
            <a:r>
              <a:rPr lang="en-US" sz="1600" dirty="0" err="1"/>
              <a:t>edgecolor</a:t>
            </a:r>
            <a:r>
              <a:rPr lang="en-US" sz="1600" dirty="0"/>
              <a:t>='k', legend='full’)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plt.scatter</a:t>
            </a:r>
            <a:r>
              <a:rPr lang="en-US" sz="1600" dirty="0"/>
              <a:t>(</a:t>
            </a:r>
            <a:r>
              <a:rPr lang="en-US" sz="1600" dirty="0" err="1"/>
              <a:t>centers_pca</a:t>
            </a:r>
            <a:r>
              <a:rPr lang="en-US" sz="1600" dirty="0"/>
              <a:t>[:, 0], </a:t>
            </a:r>
            <a:r>
              <a:rPr lang="en-US" sz="1600" dirty="0" err="1"/>
              <a:t>centers_pca</a:t>
            </a:r>
            <a:r>
              <a:rPr lang="en-US" sz="1600" dirty="0"/>
              <a:t>[:, 1], s=200, c='red', marker='X', </a:t>
            </a:r>
            <a:r>
              <a:rPr lang="en-US" sz="1600" dirty="0" err="1"/>
              <a:t>edgecolor</a:t>
            </a:r>
            <a:r>
              <a:rPr lang="en-US" sz="1600" dirty="0"/>
              <a:t>='black', label='Centers’)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, radius in enumerate(radii):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	circle = </a:t>
            </a:r>
            <a:r>
              <a:rPr lang="en-US" sz="1600" dirty="0" err="1"/>
              <a:t>plt.Circle</a:t>
            </a:r>
            <a:r>
              <a:rPr lang="en-US" sz="1600" dirty="0"/>
              <a:t>((</a:t>
            </a:r>
            <a:r>
              <a:rPr lang="en-US" sz="1600" dirty="0" err="1"/>
              <a:t>centers_pca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, 0], </a:t>
            </a:r>
            <a:r>
              <a:rPr lang="en-US" sz="1600" dirty="0" err="1"/>
              <a:t>centers_pca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, 1]), radius, color='gray', alpha=0.3, </a:t>
            </a:r>
            <a:r>
              <a:rPr lang="en-US" sz="1600" dirty="0" err="1"/>
              <a:t>linestyle</a:t>
            </a:r>
            <a:r>
              <a:rPr lang="en-US" sz="1600" dirty="0"/>
              <a:t>='--')    	</a:t>
            </a:r>
            <a:r>
              <a:rPr lang="en-US" sz="1600" dirty="0" err="1"/>
              <a:t>plt.gca</a:t>
            </a:r>
            <a:r>
              <a:rPr lang="en-US" sz="1600" dirty="0"/>
              <a:t>().</a:t>
            </a:r>
            <a:r>
              <a:rPr lang="en-US" sz="1600" dirty="0" err="1"/>
              <a:t>add_artist</a:t>
            </a:r>
            <a:r>
              <a:rPr lang="en-US" sz="1600" dirty="0"/>
              <a:t>(circle)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plt.title</a:t>
            </a:r>
            <a:r>
              <a:rPr lang="en-US" sz="1600" dirty="0"/>
              <a:t>('K-means Clustering with Cluster Centers and Radii (PCA-reduced)’)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plt.xlabel</a:t>
            </a:r>
            <a:r>
              <a:rPr lang="en-US" sz="1600" dirty="0"/>
              <a:t>('Principal Component 1’)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plt.ylabel</a:t>
            </a:r>
            <a:r>
              <a:rPr lang="en-US" sz="1600" dirty="0"/>
              <a:t>('Principal Component 2’)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plt.legend</a:t>
            </a:r>
            <a:r>
              <a:rPr lang="en-US" sz="1600" dirty="0"/>
              <a:t>(title='Cluster', loc='upper right’)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plt.show</a:t>
            </a:r>
            <a:r>
              <a:rPr lang="en-US" sz="1600" dirty="0"/>
              <a:t>()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1C888-3A47-F88B-C1DF-36380901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113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3FFC-D0B4-D68B-5463-7D7062BD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Clusters of K-means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3CE6A-F2E7-D63D-CA05-DD04FA8F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3FAB1B-3680-1714-F9AF-FC2A7F8F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67" y="1255533"/>
            <a:ext cx="9623897" cy="528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9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FC6F-27AE-25EF-D5FD-C8510EC4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5B771-A47D-3346-034F-C725ED196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99" y="4821305"/>
            <a:ext cx="7023369" cy="19001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from </a:t>
            </a:r>
            <a:r>
              <a:rPr lang="en-US" sz="1600" dirty="0" err="1"/>
              <a:t>sklearn.neighbors</a:t>
            </a:r>
            <a:r>
              <a:rPr lang="en-US" sz="1600" dirty="0"/>
              <a:t> import </a:t>
            </a:r>
            <a:r>
              <a:rPr lang="en-US" sz="1600" dirty="0" err="1"/>
              <a:t>KNeighborsClassifier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knn</a:t>
            </a:r>
            <a:r>
              <a:rPr lang="en-US" sz="1600" dirty="0"/>
              <a:t> = </a:t>
            </a:r>
            <a:r>
              <a:rPr lang="en-US" sz="1600" dirty="0" err="1"/>
              <a:t>KNeighborsClassifier</a:t>
            </a:r>
            <a:r>
              <a:rPr lang="en-US" sz="1600" dirty="0"/>
              <a:t>(</a:t>
            </a:r>
            <a:r>
              <a:rPr lang="en-US" sz="1600" dirty="0" err="1"/>
              <a:t>n_neighbors</a:t>
            </a:r>
            <a:r>
              <a:rPr lang="en-US" sz="1600" dirty="0"/>
              <a:t>=1)</a:t>
            </a:r>
          </a:p>
          <a:p>
            <a:pPr marL="0" indent="0">
              <a:buNone/>
            </a:pPr>
            <a:r>
              <a:rPr lang="fr-FR" sz="1600" dirty="0" err="1"/>
              <a:t>knn.fit</a:t>
            </a:r>
            <a:r>
              <a:rPr lang="fr-FR" sz="1600" dirty="0"/>
              <a:t>(</a:t>
            </a:r>
            <a:r>
              <a:rPr lang="fr-FR" sz="1600" dirty="0" err="1"/>
              <a:t>X_train</a:t>
            </a:r>
            <a:r>
              <a:rPr lang="fr-FR" sz="1600" dirty="0"/>
              <a:t>, </a:t>
            </a:r>
            <a:r>
              <a:rPr lang="fr-FR" sz="1600" dirty="0" err="1"/>
              <a:t>y_train</a:t>
            </a:r>
            <a:r>
              <a:rPr lang="fr-FR" sz="1600" dirty="0"/>
              <a:t>)</a:t>
            </a:r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en-US" sz="1600" dirty="0" err="1"/>
              <a:t>y_pred_knn</a:t>
            </a:r>
            <a:r>
              <a:rPr lang="en-US" sz="1600" dirty="0"/>
              <a:t> = </a:t>
            </a:r>
            <a:r>
              <a:rPr lang="en-US" sz="1600" dirty="0" err="1"/>
              <a:t>knn.predict</a:t>
            </a:r>
            <a:r>
              <a:rPr lang="en-US" sz="1600" dirty="0"/>
              <a:t>(</a:t>
            </a:r>
            <a:r>
              <a:rPr lang="en-US" sz="1600" dirty="0" err="1"/>
              <a:t>X_test</a:t>
            </a:r>
            <a:r>
              <a:rPr lang="en-US" sz="16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FD1CC-7D45-0CE3-6AFD-AE5CB5BB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6146" name="Picture 2" descr="Why Does Increasing k Decrease Variance in kNN? | by Yousef Nami | Towards  Data Science">
            <a:extLst>
              <a:ext uri="{FF2B5EF4-FFF2-40B4-BE49-F238E27FC236}">
                <a16:creationId xmlns:a16="http://schemas.microsoft.com/office/drawing/2014/main" id="{97B0B4A1-2091-6289-930E-A9FF928F5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" y="1120347"/>
            <a:ext cx="7519480" cy="344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D2C565-3B29-A425-3713-08E9F8F36FD9}"/>
              </a:ext>
            </a:extLst>
          </p:cNvPr>
          <p:cNvSpPr txBox="1"/>
          <p:nvPr/>
        </p:nvSpPr>
        <p:spPr>
          <a:xfrm>
            <a:off x="6439711" y="4753211"/>
            <a:ext cx="5752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plot_classification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y_pred_knn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y_test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model_name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=‘KNN')</a:t>
            </a:r>
          </a:p>
        </p:txBody>
      </p:sp>
    </p:spTree>
    <p:extLst>
      <p:ext uri="{BB962C8B-B14F-4D97-AF65-F5344CB8AC3E}">
        <p14:creationId xmlns:p14="http://schemas.microsoft.com/office/powerpoint/2010/main" val="2736304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(LR)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1542590" y="5766001"/>
                <a:ext cx="4558271" cy="47812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42590" y="5766001"/>
                <a:ext cx="4558271" cy="478127"/>
              </a:xfrm>
              <a:blipFill>
                <a:blip r:embed="rId2"/>
                <a:stretch>
                  <a:fillRect b="-1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İçerik Yer Tutucusu 2"/>
              <p:cNvSpPr txBox="1">
                <a:spLocks/>
              </p:cNvSpPr>
              <p:nvPr/>
            </p:nvSpPr>
            <p:spPr>
              <a:xfrm>
                <a:off x="2331477" y="5804136"/>
                <a:ext cx="2980496" cy="6489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85750" indent="-2857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Ø"/>
                  <a:defRPr lang="tr-TR" sz="2400" kern="12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tr-TR" sz="2400" kern="12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İçerik Yer Tutucusu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477" y="5804136"/>
                <a:ext cx="2980496" cy="648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 9"/>
          <p:cNvGrpSpPr/>
          <p:nvPr/>
        </p:nvGrpSpPr>
        <p:grpSpPr>
          <a:xfrm>
            <a:off x="667111" y="1297835"/>
            <a:ext cx="5702660" cy="4663055"/>
            <a:chOff x="2625219" y="1297835"/>
            <a:chExt cx="5702660" cy="4663055"/>
          </a:xfrm>
        </p:grpSpPr>
        <p:pic>
          <p:nvPicPr>
            <p:cNvPr id="6" name="Resim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9718" y="1297835"/>
              <a:ext cx="5378161" cy="414434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İçerik Yer Tutucusu 2"/>
                <p:cNvSpPr txBox="1">
                  <a:spLocks/>
                </p:cNvSpPr>
                <p:nvPr/>
              </p:nvSpPr>
              <p:spPr>
                <a:xfrm>
                  <a:off x="5006110" y="5311892"/>
                  <a:ext cx="1556616" cy="64899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85750" indent="-28575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Wingdings" panose="05000000000000000000" pitchFamily="2" charset="2"/>
                    <a:buChar char="Ø"/>
                    <a:defRPr lang="tr-TR" sz="2400" kern="1200" dirty="0" smtClean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Times New Roman" panose="02020603050405020304" pitchFamily="18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tr-TR" sz="2400" kern="1200" dirty="0" smtClean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Times New Roman" panose="02020603050405020304" pitchFamily="18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Wingdings" panose="05000000000000000000" pitchFamily="2" charset="2"/>
                    <a:buNone/>
                  </a:pPr>
                  <a:r>
                    <a:rPr lang="en-US" sz="2000" dirty="0"/>
                    <a:t>Input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7" name="İçerik Yer Tutucusu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6110" y="5311892"/>
                  <a:ext cx="1556616" cy="648998"/>
                </a:xfrm>
                <a:prstGeom prst="rect">
                  <a:avLst/>
                </a:prstGeom>
                <a:blipFill>
                  <a:blip r:embed="rId5"/>
                  <a:stretch>
                    <a:fillRect l="-3922" t="-93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İçerik Yer Tutucusu 2"/>
            <p:cNvSpPr txBox="1">
              <a:spLocks/>
            </p:cNvSpPr>
            <p:nvPr/>
          </p:nvSpPr>
          <p:spPr>
            <a:xfrm rot="16200000">
              <a:off x="2171410" y="2753419"/>
              <a:ext cx="1556616" cy="64899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85750" indent="-2857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Wingdings" panose="05000000000000000000" pitchFamily="2" charset="2"/>
                <a:buChar char="Ø"/>
                <a:defRPr lang="tr-TR" sz="2400" kern="1200" dirty="0" smtClean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tr-TR" sz="2400" kern="1200" dirty="0" smtClean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US" sz="2000" dirty="0"/>
                <a:t>Output</a:t>
              </a:r>
            </a:p>
          </p:txBody>
        </p:sp>
      </p:grpSp>
      <p:sp>
        <p:nvSpPr>
          <p:cNvPr id="9" name="Dikdörtgen 8"/>
          <p:cNvSpPr/>
          <p:nvPr/>
        </p:nvSpPr>
        <p:spPr>
          <a:xfrm>
            <a:off x="0" y="6558640"/>
            <a:ext cx="984365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hlinkClick r:id="rId6"/>
              </a:rPr>
              <a:t>https://www.researchgate.net/figure/Linear-Regression-model-sample-illustration_fig3_333457161</a:t>
            </a:r>
            <a:endParaRPr lang="en-US" sz="1100" dirty="0"/>
          </a:p>
        </p:txBody>
      </p:sp>
      <p:grpSp>
        <p:nvGrpSpPr>
          <p:cNvPr id="15" name="Grup 14"/>
          <p:cNvGrpSpPr/>
          <p:nvPr/>
        </p:nvGrpSpPr>
        <p:grpSpPr>
          <a:xfrm>
            <a:off x="325244" y="1105082"/>
            <a:ext cx="5981846" cy="4981569"/>
            <a:chOff x="2348010" y="1105082"/>
            <a:chExt cx="5981846" cy="4981569"/>
          </a:xfrm>
        </p:grpSpPr>
        <p:pic>
          <p:nvPicPr>
            <p:cNvPr id="11" name="Resim 10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8010" y="1105082"/>
              <a:ext cx="5981846" cy="4646472"/>
            </a:xfrm>
            <a:prstGeom prst="rect">
              <a:avLst/>
            </a:prstGeom>
          </p:spPr>
        </p:pic>
        <p:sp>
          <p:nvSpPr>
            <p:cNvPr id="12" name="İçerik Yer Tutucusu 2"/>
            <p:cNvSpPr txBox="1">
              <a:spLocks/>
            </p:cNvSpPr>
            <p:nvPr/>
          </p:nvSpPr>
          <p:spPr>
            <a:xfrm rot="4632217">
              <a:off x="1928068" y="2671266"/>
              <a:ext cx="1769204" cy="43134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>
              <a:normAutofit/>
            </a:bodyPr>
            <a:lstStyle>
              <a:lvl1pPr marL="285750" indent="-2857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Wingdings" panose="05000000000000000000" pitchFamily="2" charset="2"/>
                <a:buChar char="Ø"/>
                <a:defRPr lang="tr-TR" sz="2400" kern="1200" dirty="0" smtClean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tr-TR" sz="2400" kern="1200" dirty="0" smtClean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Wingdings" panose="05000000000000000000" pitchFamily="2" charset="2"/>
                <a:buNone/>
              </a:pPr>
              <a:r>
                <a:rPr lang="en-US" sz="2000" dirty="0"/>
                <a:t>Output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İçerik Yer Tutucusu 2"/>
                <p:cNvSpPr txBox="1">
                  <a:spLocks/>
                </p:cNvSpPr>
                <p:nvPr/>
              </p:nvSpPr>
              <p:spPr>
                <a:xfrm rot="2190651">
                  <a:off x="2755857" y="4698192"/>
                  <a:ext cx="3282302" cy="43167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85750" indent="-28575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Wingdings" panose="05000000000000000000" pitchFamily="2" charset="2"/>
                    <a:buChar char="Ø"/>
                    <a:defRPr lang="tr-TR" sz="2400" kern="1200" dirty="0" smtClean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Times New Roman" panose="02020603050405020304" pitchFamily="18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tr-TR" sz="2400" kern="1200" dirty="0" smtClean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Times New Roman" panose="02020603050405020304" pitchFamily="18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Wingdings" panose="05000000000000000000" pitchFamily="2" charset="2"/>
                    <a:buNone/>
                  </a:pPr>
                  <a:r>
                    <a:rPr lang="en-US" sz="2000" dirty="0"/>
                    <a:t>Input 1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3" name="İçerik Yer Tutucusu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90651">
                  <a:off x="2755857" y="4698192"/>
                  <a:ext cx="3282302" cy="43167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İçerik Yer Tutucusu 2"/>
                <p:cNvSpPr txBox="1">
                  <a:spLocks/>
                </p:cNvSpPr>
                <p:nvPr/>
              </p:nvSpPr>
              <p:spPr>
                <a:xfrm rot="18641474">
                  <a:off x="5577710" y="4229663"/>
                  <a:ext cx="3282302" cy="43167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85750" indent="-28575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Wingdings" panose="05000000000000000000" pitchFamily="2" charset="2"/>
                    <a:buChar char="Ø"/>
                    <a:defRPr lang="tr-TR" sz="2400" kern="1200" dirty="0" smtClean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Times New Roman" panose="02020603050405020304" pitchFamily="18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tr-TR" sz="2400" kern="1200" dirty="0" smtClean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Times New Roman" panose="02020603050405020304" pitchFamily="18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Wingdings" panose="05000000000000000000" pitchFamily="2" charset="2"/>
                    <a:buNone/>
                  </a:pPr>
                  <a:r>
                    <a:rPr lang="en-US" sz="2000" dirty="0"/>
                    <a:t>Input 2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4" name="İçerik Yer Tutucusu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641474">
                  <a:off x="5577710" y="4229663"/>
                  <a:ext cx="3282302" cy="43167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Dikdörtgen 15"/>
          <p:cNvSpPr/>
          <p:nvPr/>
        </p:nvSpPr>
        <p:spPr>
          <a:xfrm>
            <a:off x="-11331" y="6387769"/>
            <a:ext cx="842356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hlinkClick r:id="rId10"/>
              </a:rPr>
              <a:t>http://sphweb.bumc.bu.edu/otlt/MPH-Modules/BS/R/R5_Correlation-Regression/R5_Correlation-Regression4.html</a:t>
            </a:r>
            <a:endParaRPr lang="en-US" sz="1100" dirty="0"/>
          </a:p>
        </p:txBody>
      </p:sp>
      <p:sp>
        <p:nvSpPr>
          <p:cNvPr id="17" name="Dikdörtgen 16"/>
          <p:cNvSpPr/>
          <p:nvPr/>
        </p:nvSpPr>
        <p:spPr>
          <a:xfrm>
            <a:off x="6269012" y="1209193"/>
            <a:ext cx="588178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Linear Assumption: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LR does not support anything else. You may need to transform data to make the relationship linear.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Remove Noise: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LR assumes that your input and output variables are not noisy. </a:t>
            </a:r>
          </a:p>
          <a:p>
            <a:pPr fontAlgn="base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Remove Collinearity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. LR will over-fit your data when you have highly correlated input variables. 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Gaussian Distributions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. Linear regression will make more reliable predictions if your input and output variables have a Gaussian distribution. 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Rescale Inputs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LR will often make more reliable predictions if you rescale input variables using standardization or normalization.</a:t>
            </a:r>
            <a:endParaRPr lang="en-US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18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47CD-121C-D0D1-D024-E0ADED9D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2C73C-4B3A-2FDA-2DD4-394E42032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225" y="1215957"/>
            <a:ext cx="11517549" cy="512940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from </a:t>
            </a:r>
            <a:r>
              <a:rPr lang="en-US" sz="1600" dirty="0" err="1"/>
              <a:t>sklearn.linear_model</a:t>
            </a:r>
            <a:r>
              <a:rPr lang="en-US" sz="1600" dirty="0"/>
              <a:t> import </a:t>
            </a:r>
            <a:r>
              <a:rPr lang="en-US" sz="1600" dirty="0" err="1"/>
              <a:t>LinearRegression</a:t>
            </a:r>
            <a:r>
              <a:rPr lang="en-US" sz="16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lr</a:t>
            </a:r>
            <a:r>
              <a:rPr lang="en-US" sz="1600" dirty="0"/>
              <a:t> = </a:t>
            </a:r>
            <a:r>
              <a:rPr lang="en-US" sz="1600" dirty="0" err="1"/>
              <a:t>LinearRegression</a:t>
            </a:r>
            <a:r>
              <a:rPr lang="en-US" sz="1600" dirty="0"/>
              <a:t>()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lr.fit</a:t>
            </a:r>
            <a:r>
              <a:rPr lang="en-US" sz="1600" dirty="0"/>
              <a:t>(</a:t>
            </a: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y_train</a:t>
            </a:r>
            <a:r>
              <a:rPr lang="en-US" sz="1600" dirty="0"/>
              <a:t>)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y_pred_lr</a:t>
            </a:r>
            <a:r>
              <a:rPr lang="en-US" sz="1600" dirty="0"/>
              <a:t> = </a:t>
            </a:r>
            <a:r>
              <a:rPr lang="en-US" sz="1600" dirty="0" err="1"/>
              <a:t>lr.predict</a:t>
            </a:r>
            <a:r>
              <a:rPr lang="en-US" sz="1600" dirty="0"/>
              <a:t>(</a:t>
            </a:r>
            <a:r>
              <a:rPr lang="en-US" sz="1600" dirty="0" err="1"/>
              <a:t>X_test</a:t>
            </a:r>
            <a:r>
              <a:rPr lang="en-US" sz="1600" dirty="0"/>
              <a:t>)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y_pred_lr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='LR')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C2EC6-475B-BDDB-5E65-A6EBE139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768C022-4898-B7E2-F094-E41B3442A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981" y="3403700"/>
            <a:ext cx="5828377" cy="323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926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47CD-121C-D0D1-D024-E0ADED9D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2C73C-4B3A-2FDA-2DD4-394E42032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1013" y="1410510"/>
            <a:ext cx="11517549" cy="521402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plt.figure</a:t>
            </a:r>
            <a:r>
              <a:rPr lang="en-US" sz="1600" dirty="0"/>
              <a:t>(</a:t>
            </a:r>
            <a:r>
              <a:rPr lang="en-US" sz="1600" dirty="0" err="1"/>
              <a:t>figsize</a:t>
            </a:r>
            <a:r>
              <a:rPr lang="en-US" sz="1600" dirty="0"/>
              <a:t>=(10, 5))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plt.scatter</a:t>
            </a:r>
            <a:r>
              <a:rPr lang="en-US" sz="1600" dirty="0"/>
              <a:t>(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y_pred_lr</a:t>
            </a:r>
            <a:r>
              <a:rPr lang="en-US" sz="1600" dirty="0"/>
              <a:t>, color=‘blue’, </a:t>
            </a:r>
            <a:r>
              <a:rPr lang="en-US" sz="1600" dirty="0" err="1"/>
              <a:t>edgecolor</a:t>
            </a:r>
            <a:r>
              <a:rPr lang="en-US" sz="1600" dirty="0"/>
              <a:t>=‘k’, s=70, alpha=0.7)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plt.plot</a:t>
            </a:r>
            <a:r>
              <a:rPr lang="en-US" sz="1600" dirty="0"/>
              <a:t>([min(</a:t>
            </a:r>
            <a:r>
              <a:rPr lang="en-US" sz="1600" dirty="0" err="1"/>
              <a:t>y_test</a:t>
            </a:r>
            <a:r>
              <a:rPr lang="en-US" sz="1600" dirty="0"/>
              <a:t>), max(</a:t>
            </a:r>
            <a:r>
              <a:rPr lang="en-US" sz="1600" dirty="0" err="1"/>
              <a:t>y_test</a:t>
            </a:r>
            <a:r>
              <a:rPr lang="en-US" sz="1600" dirty="0"/>
              <a:t>)], [min(</a:t>
            </a:r>
            <a:r>
              <a:rPr lang="en-US" sz="1600" dirty="0" err="1"/>
              <a:t>y_test</a:t>
            </a:r>
            <a:r>
              <a:rPr lang="en-US" sz="1600" dirty="0"/>
              <a:t>), max(</a:t>
            </a:r>
            <a:r>
              <a:rPr lang="en-US" sz="1600" dirty="0" err="1"/>
              <a:t>y_test</a:t>
            </a:r>
            <a:r>
              <a:rPr lang="en-US" sz="1600" dirty="0"/>
              <a:t>)], color=‘red’, </a:t>
            </a:r>
            <a:r>
              <a:rPr lang="en-US" sz="1600" dirty="0" err="1"/>
              <a:t>linestyle</a:t>
            </a:r>
            <a:r>
              <a:rPr lang="en-US" sz="1600" dirty="0"/>
              <a:t>=‘—’, </a:t>
            </a:r>
            <a:r>
              <a:rPr lang="en-US" sz="1600" dirty="0" err="1"/>
              <a:t>lw</a:t>
            </a:r>
            <a:r>
              <a:rPr lang="en-US" sz="1600" dirty="0"/>
              <a:t>=2)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plt.title</a:t>
            </a:r>
            <a:r>
              <a:rPr lang="en-US" sz="1600" dirty="0"/>
              <a:t>(‘Linear Regression: Predicted vs Actual Petal Width’)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plt.xlabel</a:t>
            </a:r>
            <a:r>
              <a:rPr lang="en-US" sz="1600" dirty="0"/>
              <a:t>(‘Actual Petal Width’)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plt.ylabel</a:t>
            </a:r>
            <a:r>
              <a:rPr lang="en-US" sz="1600" dirty="0"/>
              <a:t>(‘Predicted Petal Width’)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plt.show</a:t>
            </a:r>
            <a:r>
              <a:rPr lang="en-US" sz="1600" dirty="0"/>
              <a:t>()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C2EC6-475B-BDDB-5E65-A6EBE139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5122" name="Picture 2" descr="Output image">
            <a:extLst>
              <a:ext uri="{FF2B5EF4-FFF2-40B4-BE49-F238E27FC236}">
                <a16:creationId xmlns:a16="http://schemas.microsoft.com/office/drawing/2014/main" id="{83DF488D-8959-291B-10B5-14A74E72B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237" y="3031670"/>
            <a:ext cx="6856325" cy="3826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731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A695-2A6D-A6CD-A139-E76919A5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6807-B843-79D0-0AAD-E6BFEAEBA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566" y="1643974"/>
            <a:ext cx="10749064" cy="374514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def thresholding(</a:t>
            </a:r>
            <a:r>
              <a:rPr lang="en-US" sz="1600" dirty="0" err="1"/>
              <a:t>y_pred</a:t>
            </a:r>
            <a:r>
              <a:rPr lang="en-US" sz="1600" dirty="0"/>
              <a:t>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  </a:t>
            </a:r>
            <a:r>
              <a:rPr lang="en-US" sz="1600" dirty="0" err="1"/>
              <a:t>y_pred_class</a:t>
            </a:r>
            <a:r>
              <a:rPr lang="en-US" sz="1600" dirty="0"/>
              <a:t> = </a:t>
            </a:r>
            <a:r>
              <a:rPr lang="en-US" sz="1600" dirty="0" err="1"/>
              <a:t>y_pred.copy</a:t>
            </a:r>
            <a:r>
              <a:rPr lang="en-US" sz="1600" dirty="0"/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  </a:t>
            </a:r>
            <a:r>
              <a:rPr lang="en-US" sz="1600" dirty="0" err="1"/>
              <a:t>y_pred_class</a:t>
            </a:r>
            <a:r>
              <a:rPr lang="en-US" sz="1600" dirty="0"/>
              <a:t>[</a:t>
            </a:r>
            <a:r>
              <a:rPr lang="en-US" sz="1600" dirty="0" err="1"/>
              <a:t>y_pred</a:t>
            </a:r>
            <a:r>
              <a:rPr lang="en-US" sz="1600" dirty="0"/>
              <a:t>&lt;0.5] = 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  </a:t>
            </a:r>
            <a:r>
              <a:rPr lang="en-US" sz="1600" dirty="0" err="1"/>
              <a:t>y_pred_class</a:t>
            </a:r>
            <a:r>
              <a:rPr lang="en-US" sz="1600" dirty="0"/>
              <a:t>[</a:t>
            </a:r>
            <a:r>
              <a:rPr lang="en-US" sz="1600" dirty="0" err="1"/>
              <a:t>y_pred</a:t>
            </a:r>
            <a:r>
              <a:rPr lang="en-US" sz="1600" dirty="0"/>
              <a:t>&gt;0.5] = 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  </a:t>
            </a:r>
            <a:r>
              <a:rPr lang="en-US" sz="1600" dirty="0" err="1"/>
              <a:t>y_pred_class</a:t>
            </a:r>
            <a:r>
              <a:rPr lang="en-US" sz="1600" dirty="0"/>
              <a:t>[</a:t>
            </a:r>
            <a:r>
              <a:rPr lang="en-US" sz="1600" dirty="0" err="1"/>
              <a:t>y_pred</a:t>
            </a:r>
            <a:r>
              <a:rPr lang="en-US" sz="1600" dirty="0"/>
              <a:t>&gt;1.5] = 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  return </a:t>
            </a:r>
            <a:r>
              <a:rPr lang="en-US" sz="1600" dirty="0" err="1"/>
              <a:t>y_pred_class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D1812-08BB-5288-9CB9-B5F98BC9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860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04BC-7DB9-D287-E04D-895476067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68BB5-5D11-780D-7DC4-65C167C3C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379" y="1517516"/>
            <a:ext cx="4659549" cy="483883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y_class_lr</a:t>
            </a:r>
            <a:r>
              <a:rPr lang="en-US" sz="1600" dirty="0"/>
              <a:t> = thresholding(</a:t>
            </a:r>
            <a:r>
              <a:rPr lang="en-US" sz="1600" dirty="0" err="1"/>
              <a:t>y_pred_lr</a:t>
            </a:r>
            <a:r>
              <a:rPr lang="en-US" sz="16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y_class_lr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='LR')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6F03E-E607-738E-4A6C-7CBBFA3B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20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677D7-FC4B-C3A0-E166-745141BA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009" y="1580799"/>
            <a:ext cx="7211438" cy="369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39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Adaptive Linear Neuron (Adaline)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3820590" y="5190395"/>
                <a:ext cx="4391267" cy="57623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20590" y="5190395"/>
                <a:ext cx="4391267" cy="57623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up 28"/>
          <p:cNvGrpSpPr/>
          <p:nvPr/>
        </p:nvGrpSpPr>
        <p:grpSpPr>
          <a:xfrm>
            <a:off x="3152650" y="1887582"/>
            <a:ext cx="4893690" cy="2718380"/>
            <a:chOff x="2930978" y="2016891"/>
            <a:chExt cx="4893690" cy="2718380"/>
          </a:xfrm>
        </p:grpSpPr>
        <p:grpSp>
          <p:nvGrpSpPr>
            <p:cNvPr id="4" name="Grup 3"/>
            <p:cNvGrpSpPr/>
            <p:nvPr/>
          </p:nvGrpSpPr>
          <p:grpSpPr>
            <a:xfrm>
              <a:off x="2930978" y="2016891"/>
              <a:ext cx="4893690" cy="2718380"/>
              <a:chOff x="93787" y="3051363"/>
              <a:chExt cx="4893690" cy="271838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0449173-55F7-4192-B947-BA920FF62DD3}"/>
                  </a:ext>
                </a:extLst>
              </p:cNvPr>
              <p:cNvSpPr/>
              <p:nvPr/>
            </p:nvSpPr>
            <p:spPr>
              <a:xfrm>
                <a:off x="1944731" y="4256366"/>
                <a:ext cx="1655616" cy="1513377"/>
              </a:xfrm>
              <a:prstGeom prst="ellips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Dikdörtgen 5"/>
                  <p:cNvSpPr/>
                  <p:nvPr/>
                </p:nvSpPr>
                <p:spPr>
                  <a:xfrm>
                    <a:off x="93787" y="3880026"/>
                    <a:ext cx="667940" cy="63357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n-US" sz="1200" dirty="0"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</a:t>
                    </a:r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6" name="Dikdörtgen 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787" y="3880026"/>
                    <a:ext cx="667940" cy="63357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Dikdörtgen 6"/>
              <p:cNvSpPr/>
              <p:nvPr/>
            </p:nvSpPr>
            <p:spPr>
              <a:xfrm>
                <a:off x="2424859" y="4472912"/>
                <a:ext cx="631904" cy="1006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6000" dirty="0"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Dikdörtgen 9"/>
                  <p:cNvSpPr/>
                  <p:nvPr/>
                </p:nvSpPr>
                <p:spPr>
                  <a:xfrm>
                    <a:off x="93787" y="5136172"/>
                    <a:ext cx="678647" cy="63357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n-US" sz="1200" dirty="0"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</a:t>
                    </a:r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10" name="Dikdörtgen 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787" y="5136172"/>
                    <a:ext cx="678647" cy="63357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Dikdörtgen 10"/>
                  <p:cNvSpPr/>
                  <p:nvPr/>
                </p:nvSpPr>
                <p:spPr>
                  <a:xfrm>
                    <a:off x="1147367" y="4179176"/>
                    <a:ext cx="571247" cy="45313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n-US" sz="1000" dirty="0"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</a:t>
                    </a:r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1" name="Dikdörtgen 1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7367" y="4179176"/>
                    <a:ext cx="571247" cy="4531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0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Dikdörtgen 11"/>
                  <p:cNvSpPr/>
                  <p:nvPr/>
                </p:nvSpPr>
                <p:spPr>
                  <a:xfrm>
                    <a:off x="1080995" y="4934727"/>
                    <a:ext cx="578363" cy="45313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n-US" sz="1000" dirty="0"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</a:t>
                    </a:r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2" name="Dikdörtgen 1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0995" y="4934727"/>
                    <a:ext cx="578363" cy="4531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40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Dikdörtgen 22"/>
                  <p:cNvSpPr/>
                  <p:nvPr/>
                </p:nvSpPr>
                <p:spPr>
                  <a:xfrm>
                    <a:off x="4498369" y="4646677"/>
                    <a:ext cx="489108" cy="63357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oMath>
                    </a14:m>
                    <a:r>
                      <a:rPr lang="en-US" sz="1200" dirty="0"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</a:t>
                    </a:r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23" name="Dikdörtgen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8369" y="4646677"/>
                    <a:ext cx="489108" cy="63357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Dikdörtgen 26"/>
                  <p:cNvSpPr/>
                  <p:nvPr/>
                </p:nvSpPr>
                <p:spPr>
                  <a:xfrm>
                    <a:off x="2793520" y="3684934"/>
                    <a:ext cx="390171" cy="45313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oMath>
                    </a14:m>
                    <a:r>
                      <a:rPr lang="en-US" sz="1000" dirty="0"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</a:t>
                    </a:r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7" name="Dikdörtgen 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93520" y="3684934"/>
                    <a:ext cx="390171" cy="4531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68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Dikdörtgen 27"/>
                  <p:cNvSpPr/>
                  <p:nvPr/>
                </p:nvSpPr>
                <p:spPr>
                  <a:xfrm>
                    <a:off x="2424875" y="3051363"/>
                    <a:ext cx="478016" cy="63357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oMath>
                    </a14:m>
                    <a:r>
                      <a:rPr lang="en-US" sz="1200" dirty="0"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</a:t>
                    </a:r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28" name="Dikdörtgen 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4875" y="3051363"/>
                    <a:ext cx="478016" cy="63357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Düz Ok Bağlayıcısı 13"/>
            <p:cNvCxnSpPr/>
            <p:nvPr/>
          </p:nvCxnSpPr>
          <p:spPr>
            <a:xfrm>
              <a:off x="3598918" y="3371273"/>
              <a:ext cx="1216900" cy="41463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 flipV="1">
              <a:off x="3655913" y="4182749"/>
              <a:ext cx="1159447" cy="44549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Düz Ok Bağlayıcısı 18"/>
            <p:cNvCxnSpPr/>
            <p:nvPr/>
          </p:nvCxnSpPr>
          <p:spPr>
            <a:xfrm>
              <a:off x="6437538" y="4043234"/>
              <a:ext cx="9103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Düz Ok Bağlayıcısı 23"/>
            <p:cNvCxnSpPr/>
            <p:nvPr/>
          </p:nvCxnSpPr>
          <p:spPr>
            <a:xfrm>
              <a:off x="5609730" y="2567709"/>
              <a:ext cx="1" cy="65418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İçerik Yer Tutucusu 2"/>
          <p:cNvSpPr txBox="1">
            <a:spLocks/>
          </p:cNvSpPr>
          <p:nvPr/>
        </p:nvSpPr>
        <p:spPr>
          <a:xfrm>
            <a:off x="3057917" y="1252880"/>
            <a:ext cx="6950895" cy="576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lang="tr-TR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tr-TR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Same with the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68621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FF9A-0D19-4A79-7017-646AC84B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163DD-B087-366C-B1B6-3E1445393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740" y="1264596"/>
            <a:ext cx="11023060" cy="537939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/>
              <a:t>from </a:t>
            </a:r>
            <a:r>
              <a:rPr lang="en-US" sz="1600" dirty="0" err="1"/>
              <a:t>keras.layers</a:t>
            </a:r>
            <a:r>
              <a:rPr lang="en-US" sz="1600" dirty="0"/>
              <a:t> import Input, Dense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/>
              <a:t>from </a:t>
            </a:r>
            <a:r>
              <a:rPr lang="en-US" sz="1600" dirty="0" err="1"/>
              <a:t>keras</a:t>
            </a:r>
            <a:r>
              <a:rPr lang="en-US" sz="1600" dirty="0"/>
              <a:t> import Model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 err="1"/>
              <a:t>num_features</a:t>
            </a:r>
            <a:r>
              <a:rPr lang="en-US" sz="1600" dirty="0"/>
              <a:t> = </a:t>
            </a:r>
            <a:r>
              <a:rPr lang="en-US" sz="1600" dirty="0" err="1"/>
              <a:t>X.shape</a:t>
            </a:r>
            <a:r>
              <a:rPr lang="en-US" sz="1600" dirty="0"/>
              <a:t>[1]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 err="1"/>
              <a:t>input_layer</a:t>
            </a:r>
            <a:r>
              <a:rPr lang="en-US" sz="1600" dirty="0"/>
              <a:t> = Input(shape=(</a:t>
            </a:r>
            <a:r>
              <a:rPr lang="en-US" sz="1600" dirty="0" err="1"/>
              <a:t>num_features</a:t>
            </a:r>
            <a:r>
              <a:rPr lang="en-US" sz="1600" dirty="0"/>
              <a:t>, 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 err="1"/>
              <a:t>linear_neuron</a:t>
            </a:r>
            <a:r>
              <a:rPr lang="en-US" sz="1600" dirty="0"/>
              <a:t> = Dense(1)(</a:t>
            </a:r>
            <a:r>
              <a:rPr lang="en-US" sz="1600" dirty="0" err="1"/>
              <a:t>input_layer</a:t>
            </a:r>
            <a:r>
              <a:rPr lang="en-US" sz="1600" dirty="0"/>
              <a:t>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 err="1"/>
              <a:t>adaline</a:t>
            </a:r>
            <a:r>
              <a:rPr lang="en-US" sz="1600" dirty="0"/>
              <a:t> = Model(inputs=[</a:t>
            </a:r>
            <a:r>
              <a:rPr lang="en-US" sz="1600" dirty="0" err="1"/>
              <a:t>input_layer</a:t>
            </a:r>
            <a:r>
              <a:rPr lang="en-US" sz="1600" dirty="0"/>
              <a:t>], outputs=[</a:t>
            </a:r>
            <a:r>
              <a:rPr lang="en-US" sz="1600" dirty="0" err="1"/>
              <a:t>linear_neuron</a:t>
            </a:r>
            <a:r>
              <a:rPr lang="en-US" sz="1600" dirty="0"/>
              <a:t>])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 err="1"/>
              <a:t>adaline.compile</a:t>
            </a:r>
            <a:r>
              <a:rPr lang="en-US" sz="1600" dirty="0"/>
              <a:t>(optimizer= ‘</a:t>
            </a:r>
            <a:r>
              <a:rPr lang="en-US" sz="1600" dirty="0" err="1"/>
              <a:t>sgd</a:t>
            </a:r>
            <a:r>
              <a:rPr lang="en-US" sz="1600" dirty="0"/>
              <a:t>’, loss= ‘</a:t>
            </a:r>
            <a:r>
              <a:rPr lang="en-US" sz="1600" dirty="0" err="1"/>
              <a:t>mse</a:t>
            </a:r>
            <a:r>
              <a:rPr lang="en-US" sz="1600" dirty="0"/>
              <a:t>’)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 err="1"/>
              <a:t>training_history</a:t>
            </a:r>
            <a:r>
              <a:rPr lang="en-US" sz="1600" dirty="0"/>
              <a:t> = </a:t>
            </a:r>
            <a:r>
              <a:rPr lang="en-US" sz="1600" dirty="0" err="1"/>
              <a:t>adaline.fit</a:t>
            </a:r>
            <a:r>
              <a:rPr lang="en-US" sz="1600" dirty="0"/>
              <a:t>(</a:t>
            </a: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y_train</a:t>
            </a:r>
            <a:r>
              <a:rPr lang="en-US" sz="1600" dirty="0"/>
              <a:t>, epochs=10, </a:t>
            </a:r>
            <a:r>
              <a:rPr lang="en-US" sz="1600" dirty="0" err="1"/>
              <a:t>batch_size</a:t>
            </a:r>
            <a:r>
              <a:rPr lang="en-US" sz="1600" dirty="0"/>
              <a:t>=</a:t>
            </a:r>
            <a:r>
              <a:rPr lang="en-US" sz="1600" dirty="0" err="1"/>
              <a:t>X_train.shape</a:t>
            </a:r>
            <a:r>
              <a:rPr lang="en-US" sz="1600" dirty="0"/>
              <a:t>[0], </a:t>
            </a:r>
            <a:r>
              <a:rPr lang="en-US" sz="1600" dirty="0" err="1"/>
              <a:t>validation_data</a:t>
            </a:r>
            <a:r>
              <a:rPr lang="en-US" sz="1600" dirty="0"/>
              <a:t>=(</a:t>
            </a:r>
            <a:r>
              <a:rPr lang="en-US" sz="1600" dirty="0" err="1"/>
              <a:t>X_test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), verbose=1)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 err="1"/>
              <a:t>y_pred_adaline</a:t>
            </a:r>
            <a:r>
              <a:rPr lang="en-US" sz="1600" dirty="0"/>
              <a:t> = </a:t>
            </a:r>
            <a:r>
              <a:rPr lang="en-US" sz="1600" dirty="0" err="1"/>
              <a:t>adaline.predict</a:t>
            </a:r>
            <a:r>
              <a:rPr lang="en-US" sz="1600" dirty="0"/>
              <a:t>(</a:t>
            </a:r>
            <a:r>
              <a:rPr lang="en-US" sz="1600" dirty="0" err="1"/>
              <a:t>X_test</a:t>
            </a:r>
            <a:r>
              <a:rPr lang="en-US" sz="16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8BD23-080E-96B7-62C6-0C945C90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298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FDB0-5B1B-4AEE-2DCE-6C6B03DA0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Model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BE534-6A65-F98B-D8CF-F9AAE84D2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557" y="1825625"/>
            <a:ext cx="1105224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import </a:t>
            </a:r>
            <a:r>
              <a:rPr lang="en-US" sz="1600" dirty="0" err="1"/>
              <a:t>tensorflow</a:t>
            </a:r>
            <a:r>
              <a:rPr lang="en-US" sz="1600" dirty="0"/>
              <a:t> as </a:t>
            </a:r>
            <a:r>
              <a:rPr lang="en-US" sz="1600" dirty="0" err="1"/>
              <a:t>tf</a:t>
            </a: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tf.keras.utils.plot_model</a:t>
            </a:r>
            <a:r>
              <a:rPr lang="en-US" sz="1600" dirty="0"/>
              <a:t>(</a:t>
            </a:r>
            <a:r>
              <a:rPr lang="en-US" sz="1600" dirty="0" err="1"/>
              <a:t>adaline</a:t>
            </a:r>
            <a:r>
              <a:rPr lang="en-US" sz="1600" dirty="0"/>
              <a:t>, </a:t>
            </a:r>
            <a:r>
              <a:rPr lang="en-US" sz="1600" dirty="0" err="1"/>
              <a:t>to_file</a:t>
            </a:r>
            <a:r>
              <a:rPr lang="en-US" sz="1600" dirty="0"/>
              <a:t>=‘adaline.jpg’, </a:t>
            </a:r>
            <a:r>
              <a:rPr lang="en-US" sz="1600" dirty="0" err="1"/>
              <a:t>show_shapes</a:t>
            </a:r>
            <a:r>
              <a:rPr lang="en-US" sz="1600" dirty="0"/>
              <a:t>=True)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7E2F-761B-C882-0007-F57E257F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0EC0C-0D83-8489-867C-B3ECB28F1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424" y="3317160"/>
            <a:ext cx="4627152" cy="285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00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FF9A-0D19-4A79-7017-646AC84B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Adaline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163DD-B087-366C-B1B6-3E1445393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324" y="1120347"/>
            <a:ext cx="11861260" cy="499028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y_adaline_class</a:t>
            </a:r>
            <a:r>
              <a:rPr lang="en-US" sz="1600" dirty="0"/>
              <a:t> =  thresholding(</a:t>
            </a:r>
            <a:r>
              <a:rPr lang="en-US" sz="1600" dirty="0" err="1"/>
              <a:t>y_pred_adaline</a:t>
            </a:r>
            <a:r>
              <a:rPr lang="en-US" sz="16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y_adaline_class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='Adaline')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8BD23-080E-96B7-62C6-0C945C90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24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E3C1E-37B6-AE76-BAF6-9695CEDCB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890" y="2990270"/>
            <a:ext cx="7177548" cy="394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63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4EE1-C90B-0210-25BF-B6A99986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41298-A6F5-226B-F973-C997FF9C0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379" y="1449422"/>
            <a:ext cx="10974419" cy="4824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from </a:t>
            </a:r>
            <a:r>
              <a:rPr lang="en-US" sz="1600" dirty="0" err="1"/>
              <a:t>keras.layers</a:t>
            </a:r>
            <a:r>
              <a:rPr lang="en-US" sz="1600" dirty="0"/>
              <a:t> import Input, Dense</a:t>
            </a:r>
          </a:p>
          <a:p>
            <a:pPr marL="0" indent="0">
              <a:buNone/>
            </a:pPr>
            <a:r>
              <a:rPr lang="en-US" sz="1600" dirty="0"/>
              <a:t>from </a:t>
            </a:r>
            <a:r>
              <a:rPr lang="en-US" sz="1600" dirty="0" err="1"/>
              <a:t>keras</a:t>
            </a:r>
            <a:r>
              <a:rPr lang="en-US" sz="1600" dirty="0"/>
              <a:t> import Model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input_layer</a:t>
            </a:r>
            <a:r>
              <a:rPr lang="en-US" sz="1600" dirty="0"/>
              <a:t> = Input(shape=(</a:t>
            </a:r>
            <a:r>
              <a:rPr lang="en-US" sz="1600" dirty="0" err="1"/>
              <a:t>num_features</a:t>
            </a:r>
            <a:r>
              <a:rPr lang="en-US" sz="1600" dirty="0"/>
              <a:t>, ))</a:t>
            </a:r>
          </a:p>
          <a:p>
            <a:pPr marL="0" indent="0">
              <a:buNone/>
            </a:pPr>
            <a:r>
              <a:rPr lang="en-US" sz="1600" dirty="0"/>
              <a:t>neuron = Dense(1, activation=‘</a:t>
            </a:r>
            <a:r>
              <a:rPr lang="en-US" sz="1600" dirty="0" err="1"/>
              <a:t>relu</a:t>
            </a:r>
            <a:r>
              <a:rPr lang="en-US" sz="1600" dirty="0"/>
              <a:t>’)(</a:t>
            </a:r>
            <a:r>
              <a:rPr lang="en-US" sz="1600" dirty="0" err="1"/>
              <a:t>input_layer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nonlinear_neuron</a:t>
            </a:r>
            <a:r>
              <a:rPr lang="en-US" sz="1600" dirty="0"/>
              <a:t> = Model(inputs=[</a:t>
            </a:r>
            <a:r>
              <a:rPr lang="en-US" sz="1600" dirty="0" err="1"/>
              <a:t>input_layer</a:t>
            </a:r>
            <a:r>
              <a:rPr lang="en-US" sz="1600" dirty="0"/>
              <a:t>], outputs=[neuron])</a:t>
            </a:r>
          </a:p>
          <a:p>
            <a:pPr marL="0" indent="0">
              <a:buNone/>
            </a:pPr>
            <a:r>
              <a:rPr lang="en-US" sz="1600" dirty="0" err="1"/>
              <a:t>nonlinear_neuron.compile</a:t>
            </a:r>
            <a:r>
              <a:rPr lang="en-US" sz="1600" dirty="0"/>
              <a:t>(loss=‘</a:t>
            </a:r>
            <a:r>
              <a:rPr lang="en-US" sz="1600" dirty="0" err="1"/>
              <a:t>mse</a:t>
            </a:r>
            <a:r>
              <a:rPr lang="en-US" sz="1600" dirty="0"/>
              <a:t>’, optimizer=‘</a:t>
            </a:r>
            <a:r>
              <a:rPr lang="en-US" sz="1600" dirty="0" err="1"/>
              <a:t>adam</a:t>
            </a:r>
            <a:r>
              <a:rPr lang="en-US" sz="1600" dirty="0"/>
              <a:t>’)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training_history</a:t>
            </a:r>
            <a:r>
              <a:rPr lang="en-US" sz="1600" dirty="0"/>
              <a:t> = </a:t>
            </a:r>
            <a:r>
              <a:rPr lang="en-US" sz="1600" dirty="0" err="1"/>
              <a:t>nonlinear_neuron</a:t>
            </a:r>
            <a:r>
              <a:rPr lang="en-US" sz="1600" dirty="0"/>
              <a:t> .fit(</a:t>
            </a: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y_train</a:t>
            </a:r>
            <a:r>
              <a:rPr lang="en-US" sz="1600" dirty="0"/>
              <a:t>, epochs=10, </a:t>
            </a:r>
            <a:r>
              <a:rPr lang="en-US" sz="1600" dirty="0" err="1"/>
              <a:t>batch_size</a:t>
            </a:r>
            <a:r>
              <a:rPr lang="en-US" sz="1600" dirty="0"/>
              <a:t>=</a:t>
            </a:r>
            <a:r>
              <a:rPr lang="en-US" sz="1600" dirty="0" err="1"/>
              <a:t>X_train.shape</a:t>
            </a:r>
            <a:r>
              <a:rPr lang="en-US" sz="1600" dirty="0"/>
              <a:t>[0], </a:t>
            </a:r>
            <a:r>
              <a:rPr lang="en-US" sz="1600" dirty="0" err="1"/>
              <a:t>validation_data</a:t>
            </a:r>
            <a:r>
              <a:rPr lang="en-US" sz="1600" dirty="0"/>
              <a:t>=(</a:t>
            </a:r>
            <a:r>
              <a:rPr lang="en-US" sz="1600" dirty="0" err="1"/>
              <a:t>X_test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), verbose=1)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y_pred_neuron</a:t>
            </a:r>
            <a:r>
              <a:rPr lang="en-US" sz="1600" dirty="0"/>
              <a:t> = </a:t>
            </a:r>
            <a:r>
              <a:rPr lang="en-US" sz="1600" dirty="0" err="1"/>
              <a:t>nonlinear_neuron.predict</a:t>
            </a:r>
            <a:r>
              <a:rPr lang="en-US" sz="1600" dirty="0"/>
              <a:t>(</a:t>
            </a:r>
            <a:r>
              <a:rPr lang="en-US" sz="1600" dirty="0" err="1"/>
              <a:t>X_test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y_pred_neuron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='Nonlinear Neuron')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E7504-669B-B2D2-45B5-D128A04E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741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E85A-D15F-7939-DCC5-C06A6C75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Neuron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1A828-4265-1A85-26A4-6592EC4F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E61057-FC6B-FEBC-1819-7D3F2BE74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740" y="1468876"/>
            <a:ext cx="11023060" cy="499028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y_neuron_class</a:t>
            </a:r>
            <a:r>
              <a:rPr lang="en-US" sz="1600" dirty="0"/>
              <a:t> =  thresholding(</a:t>
            </a:r>
            <a:r>
              <a:rPr lang="en-US" sz="1600" dirty="0" err="1"/>
              <a:t>y_pred_neuron</a:t>
            </a:r>
            <a:r>
              <a:rPr lang="en-US" sz="1600" dirty="0"/>
              <a:t> 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y_neuron_class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='Nonlinear Neuron')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738D54-1F13-999C-17A7-F31BC9D44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312" y="2930935"/>
            <a:ext cx="7143916" cy="392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3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A5C1-776D-591D-2BD6-D76D0361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Multilayer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46024-3C94-C936-2FFE-5D893A6D7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2272" y="1275989"/>
            <a:ext cx="7521100" cy="54454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input_layer</a:t>
            </a:r>
            <a:r>
              <a:rPr lang="en-US" sz="1600" dirty="0"/>
              <a:t> = Input(shape=(</a:t>
            </a:r>
            <a:r>
              <a:rPr lang="en-US" sz="1600" dirty="0" err="1"/>
              <a:t>num_features</a:t>
            </a:r>
            <a:r>
              <a:rPr lang="en-US" sz="1600" dirty="0"/>
              <a:t>, 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hidden_layer_1 = Dense(</a:t>
            </a:r>
            <a:r>
              <a:rPr lang="en-US" sz="1600" dirty="0" err="1"/>
              <a:t>num_features</a:t>
            </a:r>
            <a:r>
              <a:rPr lang="en-US" sz="1600" dirty="0"/>
              <a:t>, activation='</a:t>
            </a:r>
            <a:r>
              <a:rPr lang="en-US" sz="1600" dirty="0" err="1"/>
              <a:t>relu</a:t>
            </a:r>
            <a:r>
              <a:rPr lang="en-US" sz="1600" dirty="0"/>
              <a:t>')(</a:t>
            </a:r>
            <a:r>
              <a:rPr lang="en-US" sz="1600" dirty="0" err="1"/>
              <a:t>input_layer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hidden_layer_2 = Dense(int(</a:t>
            </a:r>
            <a:r>
              <a:rPr lang="en-US" sz="1600" dirty="0" err="1"/>
              <a:t>num_features</a:t>
            </a:r>
            <a:r>
              <a:rPr lang="en-US" sz="1600" dirty="0"/>
              <a:t>/2), activation='</a:t>
            </a:r>
            <a:r>
              <a:rPr lang="en-US" sz="1600" dirty="0" err="1"/>
              <a:t>relu</a:t>
            </a:r>
            <a:r>
              <a:rPr lang="en-US" sz="1600" dirty="0"/>
              <a:t>')(hidden_layer_1)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output_layer</a:t>
            </a:r>
            <a:r>
              <a:rPr lang="en-US" sz="1600" dirty="0"/>
              <a:t> = Dense(1, activation=‘</a:t>
            </a:r>
            <a:r>
              <a:rPr lang="en-US" sz="1600" dirty="0" err="1"/>
              <a:t>relu</a:t>
            </a:r>
            <a:r>
              <a:rPr lang="en-US" sz="1600" dirty="0"/>
              <a:t>’)(hidden_layer_2)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mlp</a:t>
            </a:r>
            <a:r>
              <a:rPr lang="en-US" sz="1600" dirty="0"/>
              <a:t> = Model(inputs=[</a:t>
            </a:r>
            <a:r>
              <a:rPr lang="en-US" sz="1600" dirty="0" err="1"/>
              <a:t>input_layer</a:t>
            </a:r>
            <a:r>
              <a:rPr lang="en-US" sz="1600" dirty="0"/>
              <a:t>], outputs=[</a:t>
            </a:r>
            <a:r>
              <a:rPr lang="en-US" sz="1600" dirty="0" err="1"/>
              <a:t>output_layer</a:t>
            </a:r>
            <a:r>
              <a:rPr lang="en-US" sz="1600" dirty="0"/>
              <a:t>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mlp.compile</a:t>
            </a:r>
            <a:r>
              <a:rPr lang="en-US" sz="1600" dirty="0"/>
              <a:t>(loss=‘</a:t>
            </a:r>
            <a:r>
              <a:rPr lang="en-US" sz="1600" dirty="0" err="1"/>
              <a:t>mse</a:t>
            </a:r>
            <a:r>
              <a:rPr lang="en-US" sz="1600" dirty="0"/>
              <a:t>’, optimizer=‘</a:t>
            </a:r>
            <a:r>
              <a:rPr lang="en-US" sz="1600" dirty="0" err="1"/>
              <a:t>adam</a:t>
            </a:r>
            <a:r>
              <a:rPr lang="en-US" sz="1600" dirty="0"/>
              <a:t>’)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tf.keras.utils.plot_model</a:t>
            </a:r>
            <a:r>
              <a:rPr lang="en-US" sz="1600" dirty="0"/>
              <a:t>(</a:t>
            </a:r>
            <a:r>
              <a:rPr lang="en-US" sz="1600" dirty="0" err="1"/>
              <a:t>mlp</a:t>
            </a:r>
            <a:r>
              <a:rPr lang="en-US" sz="1600" dirty="0"/>
              <a:t>, </a:t>
            </a:r>
            <a:r>
              <a:rPr lang="en-US" sz="1600" dirty="0" err="1"/>
              <a:t>to_file</a:t>
            </a:r>
            <a:r>
              <a:rPr lang="en-US" sz="1600" dirty="0"/>
              <a:t>=‘mlp.jpg’, </a:t>
            </a:r>
            <a:r>
              <a:rPr lang="en-US" sz="1600" dirty="0" err="1"/>
              <a:t>show_shapes</a:t>
            </a:r>
            <a:r>
              <a:rPr lang="en-US" sz="1600" dirty="0"/>
              <a:t>=True)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mlp.fit</a:t>
            </a:r>
            <a:r>
              <a:rPr lang="en-US" sz="1600" dirty="0"/>
              <a:t>(</a:t>
            </a: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y_train</a:t>
            </a:r>
            <a:r>
              <a:rPr lang="en-US" sz="1600" dirty="0"/>
              <a:t>, epochs=100, </a:t>
            </a:r>
            <a:r>
              <a:rPr lang="en-US" sz="1600" dirty="0" err="1"/>
              <a:t>batch_size</a:t>
            </a:r>
            <a:r>
              <a:rPr lang="en-US" sz="1600" dirty="0"/>
              <a:t>=</a:t>
            </a:r>
            <a:r>
              <a:rPr lang="en-US" sz="1600" dirty="0" err="1"/>
              <a:t>X_train.shape</a:t>
            </a:r>
            <a:r>
              <a:rPr lang="en-US" sz="1600" dirty="0"/>
              <a:t>[1], </a:t>
            </a:r>
            <a:r>
              <a:rPr lang="en-US" sz="1600" dirty="0" err="1"/>
              <a:t>validation_data</a:t>
            </a:r>
            <a:r>
              <a:rPr lang="en-US" sz="1600" dirty="0"/>
              <a:t>=(</a:t>
            </a:r>
            <a:r>
              <a:rPr lang="en-US" sz="1600" dirty="0" err="1"/>
              <a:t>X_test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), verbose=1)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y_pred_mlp</a:t>
            </a:r>
            <a:r>
              <a:rPr lang="en-US" sz="1600" dirty="0"/>
              <a:t> = </a:t>
            </a:r>
            <a:r>
              <a:rPr lang="en-US" sz="1600" dirty="0" err="1"/>
              <a:t>mlp.predict</a:t>
            </a:r>
            <a:r>
              <a:rPr lang="en-US" sz="1600" dirty="0"/>
              <a:t>(</a:t>
            </a:r>
            <a:r>
              <a:rPr lang="en-US" sz="1600" dirty="0" err="1"/>
              <a:t>X_test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E80F2-C03F-655D-176C-68F2D5DC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F9252-7812-98C3-03BE-FFC9A7333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0" y="1452512"/>
            <a:ext cx="3771183" cy="497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59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9F0D-AB0A-6040-8CAF-B9CA9970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MLP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E8F56-D851-5F07-FF4D-43F20A9F7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8562" y="1517515"/>
            <a:ext cx="10945238" cy="461091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y_pred_mlp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='MLP’)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y_mlp_class</a:t>
            </a:r>
            <a:r>
              <a:rPr lang="en-US" sz="1600" dirty="0"/>
              <a:t> =  thresholding(</a:t>
            </a:r>
            <a:r>
              <a:rPr lang="en-US" sz="1600" dirty="0" err="1"/>
              <a:t>y_pred_mlp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y_mlp_class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='MLP')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B05DE-EE03-DBF5-D3A1-278EEF00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104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A5C1-776D-591D-2BD6-D76D0361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Multilayer Perceptron with Dropout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46024-3C94-C936-2FFE-5D893A6D7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5838" y="1275989"/>
            <a:ext cx="11577534" cy="54454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from </a:t>
            </a:r>
            <a:r>
              <a:rPr lang="en-US" sz="1600" dirty="0" err="1"/>
              <a:t>keras.layers</a:t>
            </a:r>
            <a:r>
              <a:rPr lang="en-US" sz="1600" dirty="0"/>
              <a:t> import Dropout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input_layer</a:t>
            </a:r>
            <a:r>
              <a:rPr lang="en-US" sz="1600" dirty="0"/>
              <a:t> = Input(shape=(</a:t>
            </a:r>
            <a:r>
              <a:rPr lang="en-US" sz="1600" dirty="0" err="1"/>
              <a:t>num_features</a:t>
            </a:r>
            <a:r>
              <a:rPr lang="en-US" sz="1600" dirty="0"/>
              <a:t>, 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hidden_layer_1 = Dense(</a:t>
            </a:r>
            <a:r>
              <a:rPr lang="en-US" sz="1600" dirty="0" err="1"/>
              <a:t>num_features</a:t>
            </a:r>
            <a:r>
              <a:rPr lang="en-US" sz="1600" dirty="0"/>
              <a:t>, activation='</a:t>
            </a:r>
            <a:r>
              <a:rPr lang="en-US" sz="1600" dirty="0" err="1"/>
              <a:t>relu</a:t>
            </a:r>
            <a:r>
              <a:rPr lang="en-US" sz="1600" dirty="0"/>
              <a:t>')(</a:t>
            </a:r>
            <a:r>
              <a:rPr lang="en-US" sz="1600" dirty="0" err="1"/>
              <a:t>input_layer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hidden_layer_2 = Dense(int(</a:t>
            </a:r>
            <a:r>
              <a:rPr lang="en-US" sz="1600" dirty="0" err="1"/>
              <a:t>num_features</a:t>
            </a:r>
            <a:r>
              <a:rPr lang="en-US" sz="1600" dirty="0"/>
              <a:t>/2), activation='</a:t>
            </a:r>
            <a:r>
              <a:rPr lang="en-US" sz="1600" dirty="0" err="1"/>
              <a:t>relu</a:t>
            </a:r>
            <a:r>
              <a:rPr lang="en-US" sz="1600" dirty="0"/>
              <a:t>')(hidden_layer_1)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dropout_layer</a:t>
            </a:r>
            <a:r>
              <a:rPr lang="en-US" sz="1600" dirty="0"/>
              <a:t> = Dropout(0.5)(hidden_layer_2)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output_layer</a:t>
            </a:r>
            <a:r>
              <a:rPr lang="en-US" sz="1600" dirty="0"/>
              <a:t> = Dense(1, activation=‘</a:t>
            </a:r>
            <a:r>
              <a:rPr lang="en-US" sz="1600" dirty="0" err="1"/>
              <a:t>relu</a:t>
            </a:r>
            <a:r>
              <a:rPr lang="en-US" sz="1600" dirty="0"/>
              <a:t>’)(</a:t>
            </a:r>
            <a:r>
              <a:rPr lang="en-US" sz="1600" dirty="0" err="1"/>
              <a:t>dropout_layer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mlpd</a:t>
            </a:r>
            <a:r>
              <a:rPr lang="en-US" sz="1600" dirty="0"/>
              <a:t> = Model(inputs=[</a:t>
            </a:r>
            <a:r>
              <a:rPr lang="en-US" sz="1600" dirty="0" err="1"/>
              <a:t>input_layer</a:t>
            </a:r>
            <a:r>
              <a:rPr lang="en-US" sz="1600" dirty="0"/>
              <a:t>], outputs=[</a:t>
            </a:r>
            <a:r>
              <a:rPr lang="en-US" sz="1600" dirty="0" err="1"/>
              <a:t>output_layer</a:t>
            </a:r>
            <a:r>
              <a:rPr lang="en-US" sz="1600" dirty="0"/>
              <a:t>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mlpd.compile</a:t>
            </a:r>
            <a:r>
              <a:rPr lang="en-US" sz="1600" dirty="0"/>
              <a:t>(loss=‘</a:t>
            </a:r>
            <a:r>
              <a:rPr lang="en-US" sz="1600" dirty="0" err="1"/>
              <a:t>mse</a:t>
            </a:r>
            <a:r>
              <a:rPr lang="en-US" sz="1600" dirty="0"/>
              <a:t>’, optimizer=‘</a:t>
            </a:r>
            <a:r>
              <a:rPr lang="en-US" sz="1600" dirty="0" err="1"/>
              <a:t>adam</a:t>
            </a:r>
            <a:r>
              <a:rPr lang="en-US" sz="1600" dirty="0"/>
              <a:t>’)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mlpd.fit</a:t>
            </a:r>
            <a:r>
              <a:rPr lang="en-US" sz="1600" dirty="0"/>
              <a:t>(</a:t>
            </a: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y_train</a:t>
            </a:r>
            <a:r>
              <a:rPr lang="en-US" sz="1600" dirty="0"/>
              <a:t>, epochs=100, </a:t>
            </a:r>
            <a:r>
              <a:rPr lang="en-US" sz="1600" dirty="0" err="1"/>
              <a:t>batch_size</a:t>
            </a:r>
            <a:r>
              <a:rPr lang="en-US" sz="1600" dirty="0"/>
              <a:t>=</a:t>
            </a:r>
            <a:r>
              <a:rPr lang="en-US" sz="1600" dirty="0" err="1"/>
              <a:t>X_train.shape</a:t>
            </a:r>
            <a:r>
              <a:rPr lang="en-US" sz="1600" dirty="0"/>
              <a:t>[1], </a:t>
            </a:r>
            <a:r>
              <a:rPr lang="en-US" sz="1600" dirty="0" err="1"/>
              <a:t>validation_data</a:t>
            </a:r>
            <a:r>
              <a:rPr lang="en-US" sz="1600" dirty="0"/>
              <a:t>=(</a:t>
            </a:r>
            <a:r>
              <a:rPr lang="en-US" sz="1600" dirty="0" err="1"/>
              <a:t>X_test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), verbose=2)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y_pred_mlpd</a:t>
            </a:r>
            <a:r>
              <a:rPr lang="en-US" sz="1600" dirty="0"/>
              <a:t> = </a:t>
            </a:r>
            <a:r>
              <a:rPr lang="en-US" sz="1600" dirty="0" err="1"/>
              <a:t>mlpd.predict</a:t>
            </a:r>
            <a:r>
              <a:rPr lang="en-US" sz="1600" dirty="0"/>
              <a:t>(</a:t>
            </a:r>
            <a:r>
              <a:rPr lang="en-US" sz="1600" dirty="0" err="1"/>
              <a:t>X_test</a:t>
            </a:r>
            <a:r>
              <a:rPr lang="en-US" sz="16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E80F2-C03F-655D-176C-68F2D5DC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729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ABCC1-3573-1751-F877-4DF448610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Multilayer Perceptron with Dropout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E9369-E1C9-1415-BE85-376D34B93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740" y="1449422"/>
            <a:ext cx="11023060" cy="482491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y_class_mlpd</a:t>
            </a:r>
            <a:r>
              <a:rPr lang="en-US" sz="1600" dirty="0"/>
              <a:t> = thresholding(</a:t>
            </a:r>
            <a:r>
              <a:rPr lang="en-US" sz="1600" dirty="0" err="1"/>
              <a:t>y_pred_mlpd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y_class_mlpd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='MLP with Dropout')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4448F-D939-4CBB-58B9-AB44E0D0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30</a:t>
            </a:fld>
            <a:endParaRPr lang="en-GB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E2F7AE8-475C-1667-D0F3-E21F5B535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751" y="2381249"/>
            <a:ext cx="805815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68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AEFC-B1CA-9BF2-8883-3CAC40AF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6A31C-36E6-9078-9A5F-95F2C3118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23" y="3696510"/>
            <a:ext cx="10993877" cy="265983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y_train_one_hot</a:t>
            </a:r>
            <a:r>
              <a:rPr lang="en-US" sz="1600" dirty="0"/>
              <a:t> = </a:t>
            </a:r>
            <a:r>
              <a:rPr lang="en-US" sz="1600" dirty="0" err="1"/>
              <a:t>np.zeros</a:t>
            </a:r>
            <a:r>
              <a:rPr lang="en-US" sz="1600" dirty="0"/>
              <a:t>((</a:t>
            </a:r>
            <a:r>
              <a:rPr lang="en-US" sz="1600" dirty="0" err="1"/>
              <a:t>y_train.shape</a:t>
            </a:r>
            <a:r>
              <a:rPr lang="en-US" sz="1600" dirty="0"/>
              <a:t>[0], 3))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in range(</a:t>
            </a:r>
            <a:r>
              <a:rPr lang="en-US" sz="1600" dirty="0" err="1"/>
              <a:t>y_train.shape</a:t>
            </a:r>
            <a:r>
              <a:rPr lang="en-US" sz="1600" dirty="0"/>
              <a:t>[0]):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 </a:t>
            </a:r>
            <a:r>
              <a:rPr lang="en-US" sz="1600" dirty="0" err="1"/>
              <a:t>y_train_one_hot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, </a:t>
            </a:r>
            <a:r>
              <a:rPr lang="en-US" sz="1600" dirty="0" err="1"/>
              <a:t>y_train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]] = 1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y_test_one_hot</a:t>
            </a:r>
            <a:r>
              <a:rPr lang="en-US" sz="1600" dirty="0"/>
              <a:t> = </a:t>
            </a:r>
            <a:r>
              <a:rPr lang="en-US" sz="1600" dirty="0" err="1"/>
              <a:t>np.zeros</a:t>
            </a:r>
            <a:r>
              <a:rPr lang="en-US" sz="1600" dirty="0"/>
              <a:t>((</a:t>
            </a:r>
            <a:r>
              <a:rPr lang="en-US" sz="1600" dirty="0" err="1"/>
              <a:t>y_test.shape</a:t>
            </a:r>
            <a:r>
              <a:rPr lang="en-US" sz="1600" dirty="0"/>
              <a:t>[0], 3))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in range(</a:t>
            </a:r>
            <a:r>
              <a:rPr lang="en-US" sz="1600" dirty="0" err="1"/>
              <a:t>y_test.shape</a:t>
            </a:r>
            <a:r>
              <a:rPr lang="en-US" sz="1600" dirty="0"/>
              <a:t>[0]):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 </a:t>
            </a:r>
            <a:r>
              <a:rPr lang="en-US" sz="1600" dirty="0" err="1"/>
              <a:t>y_test_one_hot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]] =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273A6-C5B7-52D5-7A25-A4696869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31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F68316-509F-C9E2-F5E0-5610005078EF}"/>
              </a:ext>
            </a:extLst>
          </p:cNvPr>
          <p:cNvGraphicFramePr>
            <a:graphicFrameLocks noGrp="1"/>
          </p:cNvGraphicFramePr>
          <p:nvPr/>
        </p:nvGraphicFramePr>
        <p:xfrm>
          <a:off x="1458068" y="1381147"/>
          <a:ext cx="8127999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236249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764360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2060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923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98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7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527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488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3AA0-642D-BBAD-C4D3-B9E7DF3A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MLP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064EB-9BD3-D86B-49B0-59D6C6133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284" y="1455174"/>
            <a:ext cx="10901516" cy="49011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input_layer</a:t>
            </a:r>
            <a:r>
              <a:rPr lang="en-US" sz="1600" dirty="0"/>
              <a:t> = Input(shape=(</a:t>
            </a:r>
            <a:r>
              <a:rPr lang="en-US" sz="1600" dirty="0" err="1"/>
              <a:t>num_features</a:t>
            </a:r>
            <a:r>
              <a:rPr lang="en-US" sz="1600" dirty="0"/>
              <a:t>, 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hidden_layer_1 = Dense(</a:t>
            </a:r>
            <a:r>
              <a:rPr lang="en-US" sz="1600" dirty="0" err="1"/>
              <a:t>num_features</a:t>
            </a:r>
            <a:r>
              <a:rPr lang="en-US" sz="1600" dirty="0"/>
              <a:t>, activation='</a:t>
            </a:r>
            <a:r>
              <a:rPr lang="en-US" sz="1600" dirty="0" err="1"/>
              <a:t>relu</a:t>
            </a:r>
            <a:r>
              <a:rPr lang="en-US" sz="1600" dirty="0"/>
              <a:t>')(</a:t>
            </a:r>
            <a:r>
              <a:rPr lang="en-US" sz="1600" dirty="0" err="1"/>
              <a:t>input_layer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hidden_layer_2 = Dense(int(</a:t>
            </a:r>
            <a:r>
              <a:rPr lang="en-US" sz="1600" dirty="0" err="1"/>
              <a:t>num_features</a:t>
            </a:r>
            <a:r>
              <a:rPr lang="en-US" sz="1600" dirty="0"/>
              <a:t>/2), activation='</a:t>
            </a:r>
            <a:r>
              <a:rPr lang="en-US" sz="1600" dirty="0" err="1"/>
              <a:t>relu</a:t>
            </a:r>
            <a:r>
              <a:rPr lang="en-US" sz="1600" dirty="0"/>
              <a:t>')(hidden_layer_1)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output_layer</a:t>
            </a:r>
            <a:r>
              <a:rPr lang="en-US" sz="1600" dirty="0"/>
              <a:t> = Dense(3, activation='</a:t>
            </a:r>
            <a:r>
              <a:rPr lang="en-US" sz="1600" dirty="0" err="1"/>
              <a:t>softmax</a:t>
            </a:r>
            <a:r>
              <a:rPr lang="en-US" sz="1600" dirty="0"/>
              <a:t>')(hidden_layer_2)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mlp_class</a:t>
            </a:r>
            <a:r>
              <a:rPr lang="en-US" sz="1600" dirty="0"/>
              <a:t> = Model(inputs=[</a:t>
            </a:r>
            <a:r>
              <a:rPr lang="en-US" sz="1600" dirty="0" err="1"/>
              <a:t>input_layer</a:t>
            </a:r>
            <a:r>
              <a:rPr lang="en-US" sz="1600" dirty="0"/>
              <a:t>], outputs=[</a:t>
            </a:r>
            <a:r>
              <a:rPr lang="en-US" sz="1600" dirty="0" err="1"/>
              <a:t>output_layer</a:t>
            </a:r>
            <a:r>
              <a:rPr lang="en-US" sz="1600" dirty="0"/>
              <a:t>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mlp_class.compile</a:t>
            </a:r>
            <a:r>
              <a:rPr lang="en-US" sz="1600" dirty="0"/>
              <a:t>(loss='</a:t>
            </a:r>
            <a:r>
              <a:rPr lang="en-US" sz="1600" dirty="0" err="1"/>
              <a:t>categorical_crossentropy</a:t>
            </a:r>
            <a:r>
              <a:rPr lang="en-US" sz="1600" dirty="0"/>
              <a:t>', optimizer='</a:t>
            </a:r>
            <a:r>
              <a:rPr lang="en-US" sz="1600" dirty="0" err="1"/>
              <a:t>adam</a:t>
            </a:r>
            <a:r>
              <a:rPr lang="en-US" sz="1600" dirty="0"/>
              <a:t>’)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mlp_class.fit</a:t>
            </a:r>
            <a:r>
              <a:rPr lang="en-US" sz="1600" dirty="0"/>
              <a:t>(</a:t>
            </a: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y_train_one_hot</a:t>
            </a:r>
            <a:r>
              <a:rPr lang="en-US" sz="1600" dirty="0"/>
              <a:t>, epochs=100, </a:t>
            </a:r>
            <a:r>
              <a:rPr lang="en-US" sz="1600" dirty="0" err="1"/>
              <a:t>batch_size</a:t>
            </a:r>
            <a:r>
              <a:rPr lang="en-US" sz="1600" dirty="0"/>
              <a:t>=</a:t>
            </a:r>
            <a:r>
              <a:rPr lang="en-US" sz="1600" dirty="0" err="1"/>
              <a:t>X_train.shape</a:t>
            </a:r>
            <a:r>
              <a:rPr lang="en-US" sz="1600" dirty="0"/>
              <a:t>[1], </a:t>
            </a:r>
            <a:r>
              <a:rPr lang="en-US" sz="1600" dirty="0" err="1"/>
              <a:t>validation_data</a:t>
            </a:r>
            <a:r>
              <a:rPr lang="en-US" sz="1600" dirty="0"/>
              <a:t>=(</a:t>
            </a:r>
            <a:r>
              <a:rPr lang="en-US" sz="1600" dirty="0" err="1"/>
              <a:t>X_test</a:t>
            </a:r>
            <a:r>
              <a:rPr lang="en-US" sz="1600" dirty="0"/>
              <a:t>, </a:t>
            </a:r>
            <a:r>
              <a:rPr lang="en-US" sz="1600" dirty="0" err="1"/>
              <a:t>y_test_one_hot</a:t>
            </a:r>
            <a:r>
              <a:rPr lang="en-US" sz="1600" dirty="0"/>
              <a:t>), verbose=2)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y_pred_mlpc</a:t>
            </a:r>
            <a:r>
              <a:rPr lang="en-US" sz="1600" dirty="0"/>
              <a:t> = </a:t>
            </a:r>
            <a:r>
              <a:rPr lang="en-US" sz="1600" dirty="0" err="1"/>
              <a:t>mlp_class.predict</a:t>
            </a:r>
            <a:r>
              <a:rPr lang="en-US" sz="1600" dirty="0"/>
              <a:t>(</a:t>
            </a:r>
            <a:r>
              <a:rPr lang="en-US" sz="1600" dirty="0" err="1"/>
              <a:t>X_test</a:t>
            </a:r>
            <a:r>
              <a:rPr lang="en-US" sz="16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E4764-64F2-9C65-F97B-FFDC0B99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229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1F6447A-ADCB-984E-11A6-9309EF7E9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224" y="1691212"/>
            <a:ext cx="4884355" cy="401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585E67-2BE3-496C-5F2E-E27A9827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Neural Network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09F3D-7F94-14B1-AD2F-A8741A2A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9E21-68C8-5920-3AB1-8D98F6734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0469" y="1303505"/>
            <a:ext cx="8217913" cy="5417969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from </a:t>
            </a:r>
            <a:r>
              <a:rPr lang="en-US" sz="1600" dirty="0" err="1"/>
              <a:t>keras.layers</a:t>
            </a:r>
            <a:r>
              <a:rPr lang="en-US" sz="1600" dirty="0"/>
              <a:t> import Concatenate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input_layer</a:t>
            </a:r>
            <a:r>
              <a:rPr lang="en-US" sz="1600" dirty="0"/>
              <a:t> = Input(shape=(</a:t>
            </a:r>
            <a:r>
              <a:rPr lang="en-US" sz="1600" dirty="0" err="1"/>
              <a:t>num_features</a:t>
            </a:r>
            <a:r>
              <a:rPr lang="en-US" sz="1600" dirty="0"/>
              <a:t>, ))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# first path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hidden_layer_1_1 = Dense(</a:t>
            </a:r>
            <a:r>
              <a:rPr lang="en-US" sz="1600" dirty="0" err="1"/>
              <a:t>num_features</a:t>
            </a:r>
            <a:r>
              <a:rPr lang="en-US" sz="1600" dirty="0"/>
              <a:t>, activation='</a:t>
            </a:r>
            <a:r>
              <a:rPr lang="en-US" sz="1600" dirty="0" err="1"/>
              <a:t>relu</a:t>
            </a:r>
            <a:r>
              <a:rPr lang="en-US" sz="1600" dirty="0"/>
              <a:t>')(</a:t>
            </a:r>
            <a:r>
              <a:rPr lang="en-US" sz="1600" dirty="0" err="1"/>
              <a:t>input_layer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hidden_layer_1_2 = Dense(int(</a:t>
            </a:r>
            <a:r>
              <a:rPr lang="en-US" sz="1600" dirty="0" err="1"/>
              <a:t>num_features</a:t>
            </a:r>
            <a:r>
              <a:rPr lang="en-US" sz="1600" dirty="0"/>
              <a:t>/2), activation='</a:t>
            </a:r>
            <a:r>
              <a:rPr lang="en-US" sz="1600" dirty="0" err="1"/>
              <a:t>relu</a:t>
            </a:r>
            <a:r>
              <a:rPr lang="en-US" sz="1600" dirty="0"/>
              <a:t>')(hidden_layer_1_1)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# second path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hidden_layer_2_1 = Dense(</a:t>
            </a:r>
            <a:r>
              <a:rPr lang="en-US" sz="1600" dirty="0" err="1"/>
              <a:t>num_features</a:t>
            </a:r>
            <a:r>
              <a:rPr lang="en-US" sz="1600" dirty="0"/>
              <a:t>, activation=‘sigmoid')(</a:t>
            </a:r>
            <a:r>
              <a:rPr lang="en-US" sz="1600" dirty="0" err="1"/>
              <a:t>input_layer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# output layer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concat_layer</a:t>
            </a:r>
            <a:r>
              <a:rPr lang="en-US" sz="1600" dirty="0"/>
              <a:t> = Concatenate(axis=-1)([hidden_layer_1_2, hidden_layer_2_1])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output_layer</a:t>
            </a:r>
            <a:r>
              <a:rPr lang="en-US" sz="1600" dirty="0"/>
              <a:t> = Dense(3, activation=‘</a:t>
            </a:r>
            <a:r>
              <a:rPr lang="en-US" sz="1600" dirty="0" err="1"/>
              <a:t>softmax</a:t>
            </a:r>
            <a:r>
              <a:rPr lang="en-US" sz="1600" dirty="0"/>
              <a:t>’)(</a:t>
            </a:r>
            <a:r>
              <a:rPr lang="en-US" sz="1600" dirty="0" err="1"/>
              <a:t>concat_layer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res_mlp</a:t>
            </a:r>
            <a:r>
              <a:rPr lang="en-US" sz="1600" dirty="0"/>
              <a:t> = Model(inputs=[</a:t>
            </a:r>
            <a:r>
              <a:rPr lang="en-US" sz="1600" dirty="0" err="1"/>
              <a:t>input_layer</a:t>
            </a:r>
            <a:r>
              <a:rPr lang="en-US" sz="1600" dirty="0"/>
              <a:t>], outputs=[</a:t>
            </a:r>
            <a:r>
              <a:rPr lang="en-US" sz="1600" dirty="0" err="1"/>
              <a:t>output_layer</a:t>
            </a:r>
            <a:r>
              <a:rPr lang="en-US" sz="1600" dirty="0"/>
              <a:t>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res_mlp.compile</a:t>
            </a:r>
            <a:r>
              <a:rPr lang="en-US" sz="1600" dirty="0"/>
              <a:t>(loss=‘</a:t>
            </a:r>
            <a:r>
              <a:rPr lang="en-US" sz="1600" dirty="0" err="1"/>
              <a:t>categorical_crossentropy</a:t>
            </a:r>
            <a:r>
              <a:rPr lang="en-US" sz="1600" dirty="0"/>
              <a:t>’, optimizer=‘</a:t>
            </a:r>
            <a:r>
              <a:rPr lang="en-US" sz="1600" dirty="0" err="1"/>
              <a:t>adam</a:t>
            </a:r>
            <a:r>
              <a:rPr lang="en-US" sz="1600" dirty="0"/>
              <a:t>’)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16297-992D-62A8-A8C3-17378E8DBA56}"/>
              </a:ext>
            </a:extLst>
          </p:cNvPr>
          <p:cNvSpPr/>
          <p:nvPr/>
        </p:nvSpPr>
        <p:spPr>
          <a:xfrm>
            <a:off x="10576560" y="5785485"/>
            <a:ext cx="141011" cy="1520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92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5E67-2BE3-496C-5F2E-E27A9827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9E21-68C8-5920-3AB1-8D98F6734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0469" y="1303505"/>
            <a:ext cx="5106602" cy="541796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res_mlp.fit</a:t>
            </a:r>
            <a:r>
              <a:rPr lang="en-US" sz="1600" dirty="0"/>
              <a:t>(</a:t>
            </a: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y_train_one_hot</a:t>
            </a:r>
            <a:r>
              <a:rPr lang="en-US" sz="1600" dirty="0"/>
              <a:t>, epochs=100, </a:t>
            </a:r>
            <a:r>
              <a:rPr lang="en-US" sz="1600" dirty="0" err="1"/>
              <a:t>batch_size</a:t>
            </a:r>
            <a:r>
              <a:rPr lang="en-US" sz="1600" dirty="0"/>
              <a:t>=</a:t>
            </a:r>
            <a:r>
              <a:rPr lang="en-US" sz="1600" dirty="0" err="1"/>
              <a:t>X_train.shape</a:t>
            </a:r>
            <a:r>
              <a:rPr lang="en-US" sz="1600" dirty="0"/>
              <a:t>[1], </a:t>
            </a:r>
            <a:r>
              <a:rPr lang="en-US" sz="1600" dirty="0" err="1"/>
              <a:t>validation_data</a:t>
            </a:r>
            <a:r>
              <a:rPr lang="en-US" sz="1600" dirty="0"/>
              <a:t>=(</a:t>
            </a:r>
            <a:r>
              <a:rPr lang="en-US" sz="1600" dirty="0" err="1"/>
              <a:t>X_test</a:t>
            </a:r>
            <a:r>
              <a:rPr lang="en-US" sz="1600" dirty="0"/>
              <a:t>, </a:t>
            </a:r>
            <a:r>
              <a:rPr lang="en-US" sz="1600" dirty="0" err="1"/>
              <a:t>y_test_one_hot</a:t>
            </a:r>
            <a:r>
              <a:rPr lang="en-US" sz="1600" dirty="0"/>
              <a:t>))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y_pred_res_mlp</a:t>
            </a:r>
            <a:r>
              <a:rPr lang="en-US" sz="1600" dirty="0"/>
              <a:t> = </a:t>
            </a:r>
            <a:r>
              <a:rPr lang="en-US" sz="1600" dirty="0" err="1"/>
              <a:t>res_mlp.predict</a:t>
            </a:r>
            <a:r>
              <a:rPr lang="en-US" sz="1600" dirty="0"/>
              <a:t>(</a:t>
            </a:r>
            <a:r>
              <a:rPr lang="en-US" sz="1600" dirty="0" err="1"/>
              <a:t>X_test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y_res_mlp_class</a:t>
            </a:r>
            <a:r>
              <a:rPr lang="en-US" sz="1600" dirty="0"/>
              <a:t> =  </a:t>
            </a:r>
            <a:r>
              <a:rPr lang="en-US" sz="1600" dirty="0" err="1"/>
              <a:t>np.argmax</a:t>
            </a:r>
            <a:r>
              <a:rPr lang="en-US" sz="1600" dirty="0"/>
              <a:t>(</a:t>
            </a:r>
            <a:r>
              <a:rPr lang="en-US" sz="1600" dirty="0" err="1"/>
              <a:t>y_pred_res_mlp</a:t>
            </a:r>
            <a:r>
              <a:rPr lang="en-US" sz="1600" dirty="0"/>
              <a:t>, axis=1)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plot_classification</a:t>
            </a:r>
            <a:r>
              <a:rPr lang="en-US" sz="1600" dirty="0"/>
              <a:t>(</a:t>
            </a:r>
            <a:r>
              <a:rPr lang="en-US" sz="1600" dirty="0" err="1"/>
              <a:t>y_res_mlp_class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, </a:t>
            </a:r>
            <a:r>
              <a:rPr lang="en-US" sz="1600" dirty="0" err="1"/>
              <a:t>model_name</a:t>
            </a:r>
            <a:r>
              <a:rPr lang="en-US" sz="1600" dirty="0"/>
              <a:t>='Residual MLP Classifier')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09F3D-7F94-14B1-AD2F-A8741A2A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34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F8EE52-622E-315C-9294-85084B7C1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788" y="2392838"/>
            <a:ext cx="7043623" cy="387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86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9B72-F8CE-0FD6-AC22-F605E96D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C50BD-8AF7-C4A0-73AD-2280C0ED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35</a:t>
            </a:fld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0960E4-A221-02E8-50C2-8D7B735AE17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9" t="4091" r="8091"/>
          <a:stretch/>
        </p:blipFill>
        <p:spPr>
          <a:xfrm>
            <a:off x="343950" y="1176973"/>
            <a:ext cx="6761527" cy="378110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F1CF7684-44E6-9EC1-F5A4-B297CFD3C150}"/>
              </a:ext>
            </a:extLst>
          </p:cNvPr>
          <p:cNvSpPr/>
          <p:nvPr/>
        </p:nvSpPr>
        <p:spPr>
          <a:xfrm>
            <a:off x="1577130" y="3556932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A4FD467A-3BA3-712D-A60F-F3B22FBA63B2}"/>
              </a:ext>
            </a:extLst>
          </p:cNvPr>
          <p:cNvSpPr/>
          <p:nvPr/>
        </p:nvSpPr>
        <p:spPr>
          <a:xfrm>
            <a:off x="2534873" y="3405450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7235B26-CD4C-D66A-C387-6D0727663924}"/>
              </a:ext>
            </a:extLst>
          </p:cNvPr>
          <p:cNvSpPr/>
          <p:nvPr/>
        </p:nvSpPr>
        <p:spPr>
          <a:xfrm>
            <a:off x="3494016" y="3253488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14BC8-0764-5388-4DCF-3718C2F99DF9}"/>
              </a:ext>
            </a:extLst>
          </p:cNvPr>
          <p:cNvSpPr txBox="1"/>
          <p:nvPr/>
        </p:nvSpPr>
        <p:spPr>
          <a:xfrm>
            <a:off x="1576429" y="2886621"/>
            <a:ext cx="2147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samples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70F14D2-49B3-D5BD-300C-E9F92D287487}"/>
              </a:ext>
            </a:extLst>
          </p:cNvPr>
          <p:cNvSpPr/>
          <p:nvPr/>
        </p:nvSpPr>
        <p:spPr>
          <a:xfrm rot="5400000">
            <a:off x="2469506" y="3845708"/>
            <a:ext cx="361428" cy="2147583"/>
          </a:xfrm>
          <a:prstGeom prst="rightBrac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84198D4-258A-5C4D-098E-D65F6310429F}"/>
              </a:ext>
            </a:extLst>
          </p:cNvPr>
          <p:cNvSpPr txBox="1">
            <a:spLocks/>
          </p:cNvSpPr>
          <p:nvPr/>
        </p:nvSpPr>
        <p:spPr>
          <a:xfrm>
            <a:off x="1393794" y="5091354"/>
            <a:ext cx="2512852" cy="746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past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[input sequence]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CD1173F-FD44-890C-7345-0D2758DD92F5}"/>
              </a:ext>
            </a:extLst>
          </p:cNvPr>
          <p:cNvSpPr/>
          <p:nvPr/>
        </p:nvSpPr>
        <p:spPr>
          <a:xfrm rot="5400000">
            <a:off x="4380625" y="4737696"/>
            <a:ext cx="361428" cy="440771"/>
          </a:xfrm>
          <a:prstGeom prst="rightBrac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BB2DD2-D27A-CEFC-9F15-B2F8261C9DF7}"/>
              </a:ext>
            </a:extLst>
          </p:cNvPr>
          <p:cNvSpPr txBox="1">
            <a:spLocks/>
          </p:cNvSpPr>
          <p:nvPr/>
        </p:nvSpPr>
        <p:spPr>
          <a:xfrm>
            <a:off x="3982411" y="5091354"/>
            <a:ext cx="1157856" cy="737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future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[output]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C42248-638E-2B3D-16D9-0B07B92D9DFE}"/>
              </a:ext>
            </a:extLst>
          </p:cNvPr>
          <p:cNvCxnSpPr/>
          <p:nvPr/>
        </p:nvCxnSpPr>
        <p:spPr>
          <a:xfrm>
            <a:off x="4681057" y="3858936"/>
            <a:ext cx="805343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B435D6A-D98B-1A31-3627-5DFBFC30992D}"/>
              </a:ext>
            </a:extLst>
          </p:cNvPr>
          <p:cNvSpPr txBox="1"/>
          <p:nvPr/>
        </p:nvSpPr>
        <p:spPr>
          <a:xfrm>
            <a:off x="4481029" y="3225175"/>
            <a:ext cx="1196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sampling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interval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82A8BD9-9DCC-64F7-E139-720463B9B08E}"/>
              </a:ext>
            </a:extLst>
          </p:cNvPr>
          <p:cNvSpPr txBox="1">
            <a:spLocks/>
          </p:cNvSpPr>
          <p:nvPr/>
        </p:nvSpPr>
        <p:spPr>
          <a:xfrm>
            <a:off x="7832523" y="2326448"/>
            <a:ext cx="3786664" cy="1120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</a:rPr>
              <a:t>Number of Past Samples: 3</a:t>
            </a:r>
          </a:p>
          <a:p>
            <a:pPr marL="0" indent="0" algn="ctr">
              <a:buNone/>
            </a:pPr>
            <a:endParaRPr lang="en-US" sz="18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</a:rPr>
              <a:t>Number of Forecast Steps: 1</a:t>
            </a:r>
          </a:p>
          <a:p>
            <a:pPr marL="0" indent="0" algn="ctr">
              <a:buNone/>
            </a:pPr>
            <a:endParaRPr lang="en-US" sz="1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2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9B72-F8CE-0FD6-AC22-F605E96D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15">
                <a:extLst>
                  <a:ext uri="{FF2B5EF4-FFF2-40B4-BE49-F238E27FC236}">
                    <a16:creationId xmlns:a16="http://schemas.microsoft.com/office/drawing/2014/main" id="{B3260D30-BFC2-D6C8-C083-33C355B9E3BB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7391400" y="1439732"/>
              <a:ext cx="4680360" cy="7416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170090">
                      <a:extLst>
                        <a:ext uri="{9D8B030D-6E8A-4147-A177-3AD203B41FA5}">
                          <a16:colId xmlns:a16="http://schemas.microsoft.com/office/drawing/2014/main" val="4185694302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2745407726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1058997130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344638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7573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0268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15">
                <a:extLst>
                  <a:ext uri="{FF2B5EF4-FFF2-40B4-BE49-F238E27FC236}">
                    <a16:creationId xmlns:a16="http://schemas.microsoft.com/office/drawing/2014/main" id="{B3260D30-BFC2-D6C8-C083-33C355B9E3BB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7391400" y="1439732"/>
              <a:ext cx="4680360" cy="7416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170090">
                      <a:extLst>
                        <a:ext uri="{9D8B030D-6E8A-4147-A177-3AD203B41FA5}">
                          <a16:colId xmlns:a16="http://schemas.microsoft.com/office/drawing/2014/main" val="4185694302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2745407726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1058997130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344638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" t="-1639" r="-30260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639" r="-20103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42" t="-1639" r="-10208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042" t="-1639" r="-2083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7573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" t="-101639" r="-30260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1639" r="-20103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42" t="-101639" r="-10208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042" t="-101639" r="-2083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0268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C50BD-8AF7-C4A0-73AD-2280C0ED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36</a:t>
            </a:fld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0960E4-A221-02E8-50C2-8D7B735AE17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9" t="4091" r="8091"/>
          <a:stretch/>
        </p:blipFill>
        <p:spPr>
          <a:xfrm>
            <a:off x="343950" y="1176973"/>
            <a:ext cx="6761527" cy="378110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F1CF7684-44E6-9EC1-F5A4-B297CFD3C150}"/>
              </a:ext>
            </a:extLst>
          </p:cNvPr>
          <p:cNvSpPr/>
          <p:nvPr/>
        </p:nvSpPr>
        <p:spPr>
          <a:xfrm>
            <a:off x="1577130" y="3556932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A4FD467A-3BA3-712D-A60F-F3B22FBA63B2}"/>
              </a:ext>
            </a:extLst>
          </p:cNvPr>
          <p:cNvSpPr/>
          <p:nvPr/>
        </p:nvSpPr>
        <p:spPr>
          <a:xfrm>
            <a:off x="2534873" y="3405450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7235B26-CD4C-D66A-C387-6D0727663924}"/>
              </a:ext>
            </a:extLst>
          </p:cNvPr>
          <p:cNvSpPr/>
          <p:nvPr/>
        </p:nvSpPr>
        <p:spPr>
          <a:xfrm>
            <a:off x="3494016" y="3253488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14BC8-0764-5388-4DCF-3718C2F99DF9}"/>
              </a:ext>
            </a:extLst>
          </p:cNvPr>
          <p:cNvSpPr txBox="1"/>
          <p:nvPr/>
        </p:nvSpPr>
        <p:spPr>
          <a:xfrm>
            <a:off x="1576429" y="2886621"/>
            <a:ext cx="2147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samples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70F14D2-49B3-D5BD-300C-E9F92D287487}"/>
              </a:ext>
            </a:extLst>
          </p:cNvPr>
          <p:cNvSpPr/>
          <p:nvPr/>
        </p:nvSpPr>
        <p:spPr>
          <a:xfrm rot="5400000">
            <a:off x="2469506" y="3845708"/>
            <a:ext cx="361428" cy="2147583"/>
          </a:xfrm>
          <a:prstGeom prst="rightBrac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84198D4-258A-5C4D-098E-D65F6310429F}"/>
              </a:ext>
            </a:extLst>
          </p:cNvPr>
          <p:cNvSpPr txBox="1">
            <a:spLocks/>
          </p:cNvSpPr>
          <p:nvPr/>
        </p:nvSpPr>
        <p:spPr>
          <a:xfrm>
            <a:off x="1393794" y="5091354"/>
            <a:ext cx="2512852" cy="437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input sequence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CD1173F-FD44-890C-7345-0D2758DD92F5}"/>
              </a:ext>
            </a:extLst>
          </p:cNvPr>
          <p:cNvSpPr/>
          <p:nvPr/>
        </p:nvSpPr>
        <p:spPr>
          <a:xfrm rot="5400000">
            <a:off x="4380625" y="4737696"/>
            <a:ext cx="361428" cy="440771"/>
          </a:xfrm>
          <a:prstGeom prst="rightBrac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BB2DD2-D27A-CEFC-9F15-B2F8261C9DF7}"/>
              </a:ext>
            </a:extLst>
          </p:cNvPr>
          <p:cNvSpPr txBox="1">
            <a:spLocks/>
          </p:cNvSpPr>
          <p:nvPr/>
        </p:nvSpPr>
        <p:spPr>
          <a:xfrm>
            <a:off x="4043318" y="5100214"/>
            <a:ext cx="1036040" cy="437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94513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9B72-F8CE-0FD6-AC22-F605E96D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15">
                <a:extLst>
                  <a:ext uri="{FF2B5EF4-FFF2-40B4-BE49-F238E27FC236}">
                    <a16:creationId xmlns:a16="http://schemas.microsoft.com/office/drawing/2014/main" id="{B3260D30-BFC2-D6C8-C083-33C355B9E3BB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7391400" y="1439732"/>
              <a:ext cx="4680360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170090">
                      <a:extLst>
                        <a:ext uri="{9D8B030D-6E8A-4147-A177-3AD203B41FA5}">
                          <a16:colId xmlns:a16="http://schemas.microsoft.com/office/drawing/2014/main" val="4185694302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2745407726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1058997130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344638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7573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026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5467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15">
                <a:extLst>
                  <a:ext uri="{FF2B5EF4-FFF2-40B4-BE49-F238E27FC236}">
                    <a16:creationId xmlns:a16="http://schemas.microsoft.com/office/drawing/2014/main" id="{B3260D30-BFC2-D6C8-C083-33C355B9E3BB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972611998"/>
                  </p:ext>
                </p:extLst>
              </p:nvPr>
            </p:nvGraphicFramePr>
            <p:xfrm>
              <a:off x="7391400" y="1439732"/>
              <a:ext cx="4680360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170090">
                      <a:extLst>
                        <a:ext uri="{9D8B030D-6E8A-4147-A177-3AD203B41FA5}">
                          <a16:colId xmlns:a16="http://schemas.microsoft.com/office/drawing/2014/main" val="4185694302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2745407726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1058997130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344638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" t="-1639" r="-30260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639" r="-20103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42" t="-1639" r="-10208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042" t="-1639" r="-2083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7573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" t="-101639" r="-30260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1639" r="-20103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42" t="-101639" r="-10208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042" t="-101639" r="-2083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026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" t="-201639" r="-30260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1639" r="-20103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42" t="-201639" r="-10208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042" t="-201639" r="-2083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1546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C50BD-8AF7-C4A0-73AD-2280C0ED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37</a:t>
            </a:fld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0960E4-A221-02E8-50C2-8D7B735AE17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9" t="4091" r="8091"/>
          <a:stretch/>
        </p:blipFill>
        <p:spPr>
          <a:xfrm>
            <a:off x="343950" y="1176973"/>
            <a:ext cx="6761527" cy="378110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F1CF7684-44E6-9EC1-F5A4-B297CFD3C150}"/>
              </a:ext>
            </a:extLst>
          </p:cNvPr>
          <p:cNvSpPr/>
          <p:nvPr/>
        </p:nvSpPr>
        <p:spPr>
          <a:xfrm>
            <a:off x="1577130" y="3556932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A4FD467A-3BA3-712D-A60F-F3B22FBA63B2}"/>
              </a:ext>
            </a:extLst>
          </p:cNvPr>
          <p:cNvSpPr/>
          <p:nvPr/>
        </p:nvSpPr>
        <p:spPr>
          <a:xfrm>
            <a:off x="2534873" y="3405450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7235B26-CD4C-D66A-C387-6D0727663924}"/>
              </a:ext>
            </a:extLst>
          </p:cNvPr>
          <p:cNvSpPr/>
          <p:nvPr/>
        </p:nvSpPr>
        <p:spPr>
          <a:xfrm>
            <a:off x="3494016" y="3253488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14BC8-0764-5388-4DCF-3718C2F99DF9}"/>
              </a:ext>
            </a:extLst>
          </p:cNvPr>
          <p:cNvSpPr txBox="1"/>
          <p:nvPr/>
        </p:nvSpPr>
        <p:spPr>
          <a:xfrm>
            <a:off x="1576429" y="2886621"/>
            <a:ext cx="2147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samples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70F14D2-49B3-D5BD-300C-E9F92D287487}"/>
              </a:ext>
            </a:extLst>
          </p:cNvPr>
          <p:cNvSpPr/>
          <p:nvPr/>
        </p:nvSpPr>
        <p:spPr>
          <a:xfrm rot="5400000">
            <a:off x="3442630" y="3845708"/>
            <a:ext cx="361428" cy="2147583"/>
          </a:xfrm>
          <a:prstGeom prst="rightBrac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84198D4-258A-5C4D-098E-D65F6310429F}"/>
              </a:ext>
            </a:extLst>
          </p:cNvPr>
          <p:cNvSpPr txBox="1">
            <a:spLocks/>
          </p:cNvSpPr>
          <p:nvPr/>
        </p:nvSpPr>
        <p:spPr>
          <a:xfrm>
            <a:off x="2366918" y="5091354"/>
            <a:ext cx="2512852" cy="437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input sequence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CD1173F-FD44-890C-7345-0D2758DD92F5}"/>
              </a:ext>
            </a:extLst>
          </p:cNvPr>
          <p:cNvSpPr/>
          <p:nvPr/>
        </p:nvSpPr>
        <p:spPr>
          <a:xfrm rot="5400000">
            <a:off x="5353749" y="4737696"/>
            <a:ext cx="361428" cy="440771"/>
          </a:xfrm>
          <a:prstGeom prst="rightBrac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BB2DD2-D27A-CEFC-9F15-B2F8261C9DF7}"/>
              </a:ext>
            </a:extLst>
          </p:cNvPr>
          <p:cNvSpPr txBox="1">
            <a:spLocks/>
          </p:cNvSpPr>
          <p:nvPr/>
        </p:nvSpPr>
        <p:spPr>
          <a:xfrm>
            <a:off x="5016442" y="5100214"/>
            <a:ext cx="1036040" cy="437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000939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9B72-F8CE-0FD6-AC22-F605E96D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15">
                <a:extLst>
                  <a:ext uri="{FF2B5EF4-FFF2-40B4-BE49-F238E27FC236}">
                    <a16:creationId xmlns:a16="http://schemas.microsoft.com/office/drawing/2014/main" id="{B3260D30-BFC2-D6C8-C083-33C355B9E3BB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7391400" y="1439732"/>
              <a:ext cx="4680360" cy="148336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170090">
                      <a:extLst>
                        <a:ext uri="{9D8B030D-6E8A-4147-A177-3AD203B41FA5}">
                          <a16:colId xmlns:a16="http://schemas.microsoft.com/office/drawing/2014/main" val="4185694302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2745407726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1058997130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344638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7573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026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5467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3163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15">
                <a:extLst>
                  <a:ext uri="{FF2B5EF4-FFF2-40B4-BE49-F238E27FC236}">
                    <a16:creationId xmlns:a16="http://schemas.microsoft.com/office/drawing/2014/main" id="{B3260D30-BFC2-D6C8-C083-33C355B9E3BB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59200783"/>
                  </p:ext>
                </p:extLst>
              </p:nvPr>
            </p:nvGraphicFramePr>
            <p:xfrm>
              <a:off x="7391400" y="1439732"/>
              <a:ext cx="4680360" cy="148336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170090">
                      <a:extLst>
                        <a:ext uri="{9D8B030D-6E8A-4147-A177-3AD203B41FA5}">
                          <a16:colId xmlns:a16="http://schemas.microsoft.com/office/drawing/2014/main" val="4185694302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2745407726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1058997130"/>
                        </a:ext>
                      </a:extLst>
                    </a:gridCol>
                    <a:gridCol w="1170090">
                      <a:extLst>
                        <a:ext uri="{9D8B030D-6E8A-4147-A177-3AD203B41FA5}">
                          <a16:colId xmlns:a16="http://schemas.microsoft.com/office/drawing/2014/main" val="344638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" t="-1639" r="-302604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639" r="-20103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42" t="-1639" r="-102083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042" t="-1639" r="-2083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7573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" t="-101639" r="-30260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1639" r="-20103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42" t="-101639" r="-10208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042" t="-101639" r="-2083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026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" t="-201639" r="-30260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1639" r="-20103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42" t="-201639" r="-10208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042" t="-201639" r="-2083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15467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" t="-301639" r="-30260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301639" r="-20103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042" t="-301639" r="-10208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042" t="-301639" r="-2083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3163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C50BD-8AF7-C4A0-73AD-2280C0ED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38</a:t>
            </a:fld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0960E4-A221-02E8-50C2-8D7B735AE17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9" t="4091" r="8091"/>
          <a:stretch/>
        </p:blipFill>
        <p:spPr>
          <a:xfrm>
            <a:off x="343950" y="1176973"/>
            <a:ext cx="6761527" cy="378110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F1CF7684-44E6-9EC1-F5A4-B297CFD3C150}"/>
              </a:ext>
            </a:extLst>
          </p:cNvPr>
          <p:cNvSpPr/>
          <p:nvPr/>
        </p:nvSpPr>
        <p:spPr>
          <a:xfrm>
            <a:off x="1577130" y="3556932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A4FD467A-3BA3-712D-A60F-F3B22FBA63B2}"/>
              </a:ext>
            </a:extLst>
          </p:cNvPr>
          <p:cNvSpPr/>
          <p:nvPr/>
        </p:nvSpPr>
        <p:spPr>
          <a:xfrm>
            <a:off x="2534873" y="3405450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7235B26-CD4C-D66A-C387-6D0727663924}"/>
              </a:ext>
            </a:extLst>
          </p:cNvPr>
          <p:cNvSpPr/>
          <p:nvPr/>
        </p:nvSpPr>
        <p:spPr>
          <a:xfrm>
            <a:off x="3494016" y="3253488"/>
            <a:ext cx="230697" cy="302004"/>
          </a:xfrm>
          <a:prstGeom prst="downArrow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14BC8-0764-5388-4DCF-3718C2F99DF9}"/>
              </a:ext>
            </a:extLst>
          </p:cNvPr>
          <p:cNvSpPr txBox="1"/>
          <p:nvPr/>
        </p:nvSpPr>
        <p:spPr>
          <a:xfrm>
            <a:off x="1576429" y="2886621"/>
            <a:ext cx="2147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samples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70F14D2-49B3-D5BD-300C-E9F92D287487}"/>
              </a:ext>
            </a:extLst>
          </p:cNvPr>
          <p:cNvSpPr/>
          <p:nvPr/>
        </p:nvSpPr>
        <p:spPr>
          <a:xfrm rot="5400000">
            <a:off x="4398976" y="3845708"/>
            <a:ext cx="361428" cy="2147583"/>
          </a:xfrm>
          <a:prstGeom prst="rightBrac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84198D4-258A-5C4D-098E-D65F6310429F}"/>
              </a:ext>
            </a:extLst>
          </p:cNvPr>
          <p:cNvSpPr txBox="1">
            <a:spLocks/>
          </p:cNvSpPr>
          <p:nvPr/>
        </p:nvSpPr>
        <p:spPr>
          <a:xfrm>
            <a:off x="3323264" y="5091354"/>
            <a:ext cx="2512852" cy="437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input sequence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CD1173F-FD44-890C-7345-0D2758DD92F5}"/>
              </a:ext>
            </a:extLst>
          </p:cNvPr>
          <p:cNvSpPr/>
          <p:nvPr/>
        </p:nvSpPr>
        <p:spPr>
          <a:xfrm rot="5400000">
            <a:off x="6310095" y="4737696"/>
            <a:ext cx="361428" cy="440771"/>
          </a:xfrm>
          <a:prstGeom prst="rightBrac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BB2DD2-D27A-CEFC-9F15-B2F8261C9DF7}"/>
              </a:ext>
            </a:extLst>
          </p:cNvPr>
          <p:cNvSpPr txBox="1">
            <a:spLocks/>
          </p:cNvSpPr>
          <p:nvPr/>
        </p:nvSpPr>
        <p:spPr>
          <a:xfrm>
            <a:off x="5972788" y="5100214"/>
            <a:ext cx="1036040" cy="437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655678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9B72-F8CE-0FD6-AC22-F605E96D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 Series Data for Supervised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5182A-15CD-F86E-341A-FD6B9BCC8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50" y="1484851"/>
            <a:ext cx="11009850" cy="52366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def </a:t>
            </a:r>
            <a:r>
              <a:rPr lang="en-US" sz="1800" dirty="0" err="1"/>
              <a:t>split_sequence</a:t>
            </a:r>
            <a:r>
              <a:rPr lang="en-US" sz="1800" dirty="0"/>
              <a:t>(sequence, </a:t>
            </a:r>
            <a:r>
              <a:rPr lang="en-US" sz="1800" dirty="0" err="1"/>
              <a:t>n_past</a:t>
            </a:r>
            <a:r>
              <a:rPr lang="en-US" sz="1800" dirty="0"/>
              <a:t>, </a:t>
            </a:r>
            <a:r>
              <a:rPr lang="en-US" sz="1800" dirty="0" err="1"/>
              <a:t>n_steps</a:t>
            </a:r>
            <a:r>
              <a:rPr lang="en-US" sz="1800" dirty="0"/>
              <a:t>):</a:t>
            </a:r>
          </a:p>
          <a:p>
            <a:pPr marL="457200" lvl="1" indent="0">
              <a:buNone/>
            </a:pPr>
            <a:r>
              <a:rPr lang="en-US" sz="1800" dirty="0"/>
              <a:t>X = []</a:t>
            </a:r>
          </a:p>
          <a:p>
            <a:pPr marL="457200" lvl="1" indent="0">
              <a:buNone/>
            </a:pPr>
            <a:r>
              <a:rPr lang="en-US" sz="1800" dirty="0"/>
              <a:t>y = []</a:t>
            </a:r>
          </a:p>
          <a:p>
            <a:pPr marL="457200" lvl="1" indent="0">
              <a:buNone/>
            </a:pPr>
            <a:r>
              <a:rPr lang="en-US" sz="1800" dirty="0"/>
              <a:t>for </a:t>
            </a:r>
            <a:r>
              <a:rPr lang="en-US" sz="1800" dirty="0" err="1"/>
              <a:t>i</a:t>
            </a:r>
            <a:r>
              <a:rPr lang="en-US" sz="1800" dirty="0"/>
              <a:t> in range(</a:t>
            </a:r>
            <a:r>
              <a:rPr lang="en-US" sz="1800" dirty="0" err="1"/>
              <a:t>n_past</a:t>
            </a:r>
            <a:r>
              <a:rPr lang="en-US" sz="1800" dirty="0"/>
              <a:t>, </a:t>
            </a:r>
            <a:r>
              <a:rPr lang="en-US" sz="1800" dirty="0" err="1"/>
              <a:t>len</a:t>
            </a:r>
            <a:r>
              <a:rPr lang="en-US" sz="1800" dirty="0"/>
              <a:t>(sequence)-</a:t>
            </a:r>
            <a:r>
              <a:rPr lang="en-US" sz="1800" dirty="0" err="1"/>
              <a:t>n_steps</a:t>
            </a:r>
            <a:r>
              <a:rPr lang="en-US" sz="1800" dirty="0"/>
              <a:t>):</a:t>
            </a:r>
          </a:p>
          <a:p>
            <a:pPr marL="914400" lvl="2" indent="0">
              <a:buNone/>
            </a:pPr>
            <a:r>
              <a:rPr lang="en-US" sz="1800" dirty="0" err="1"/>
              <a:t>input_seq</a:t>
            </a:r>
            <a:r>
              <a:rPr lang="en-US" sz="1800" dirty="0"/>
              <a:t> = sequence[</a:t>
            </a:r>
            <a:r>
              <a:rPr lang="en-US" sz="1800" dirty="0" err="1"/>
              <a:t>i-n_past:i</a:t>
            </a:r>
            <a:r>
              <a:rPr lang="en-US" sz="1800" dirty="0"/>
              <a:t>]</a:t>
            </a:r>
          </a:p>
          <a:p>
            <a:pPr marL="914400" lvl="2" indent="0">
              <a:buNone/>
            </a:pPr>
            <a:r>
              <a:rPr lang="en-US" sz="1800" dirty="0" err="1"/>
              <a:t>output_seq</a:t>
            </a:r>
            <a:r>
              <a:rPr lang="en-US" sz="1800" dirty="0"/>
              <a:t> = sequence[</a:t>
            </a:r>
            <a:r>
              <a:rPr lang="en-US" sz="1800" dirty="0" err="1"/>
              <a:t>i:i+n_steps</a:t>
            </a:r>
            <a:r>
              <a:rPr lang="en-US" sz="1800" dirty="0"/>
              <a:t>]</a:t>
            </a:r>
          </a:p>
          <a:p>
            <a:pPr marL="914400" lvl="2" indent="0">
              <a:buNone/>
            </a:pPr>
            <a:r>
              <a:rPr lang="en-US" sz="1800" dirty="0" err="1"/>
              <a:t>X.append</a:t>
            </a:r>
            <a:r>
              <a:rPr lang="en-US" sz="1800" dirty="0"/>
              <a:t>(</a:t>
            </a:r>
            <a:r>
              <a:rPr lang="en-US" sz="1800" dirty="0" err="1"/>
              <a:t>input_seq</a:t>
            </a:r>
            <a:r>
              <a:rPr lang="en-US" sz="1800" dirty="0"/>
              <a:t>)</a:t>
            </a:r>
          </a:p>
          <a:p>
            <a:pPr marL="914400" lvl="2" indent="0">
              <a:buNone/>
            </a:pPr>
            <a:r>
              <a:rPr lang="en-US" sz="1800" dirty="0" err="1"/>
              <a:t>y.append</a:t>
            </a:r>
            <a:r>
              <a:rPr lang="en-US" sz="1800" dirty="0"/>
              <a:t>(</a:t>
            </a:r>
            <a:r>
              <a:rPr lang="en-US" sz="1800" dirty="0" err="1"/>
              <a:t>output_seq</a:t>
            </a:r>
            <a:r>
              <a:rPr lang="en-US" sz="1800" dirty="0"/>
              <a:t>)</a:t>
            </a:r>
          </a:p>
          <a:p>
            <a:pPr marL="457200" lvl="1" indent="0">
              <a:buNone/>
            </a:pPr>
            <a:r>
              <a:rPr lang="en-US" sz="1800" dirty="0"/>
              <a:t>return array(X), array(y)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C50BD-8AF7-C4A0-73AD-2280C0ED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22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9B72-F8CE-0FD6-AC22-F605E96D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Weather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5182A-15CD-F86E-341A-FD6B9BCC8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50" y="1120347"/>
            <a:ext cx="11009850" cy="5737651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# https://www.kaggle.com/datasets/prasad22/weather-data/data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file_name</a:t>
            </a:r>
            <a:r>
              <a:rPr lang="en-US" sz="1600" dirty="0"/>
              <a:t> = ‘weather_data.csv’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df</a:t>
            </a:r>
            <a:r>
              <a:rPr lang="en-US" sz="1600" dirty="0"/>
              <a:t> = </a:t>
            </a:r>
            <a:r>
              <a:rPr lang="en-US" sz="1600" dirty="0" err="1"/>
              <a:t>pd.read_csv</a:t>
            </a:r>
            <a:r>
              <a:rPr lang="en-US" sz="1600" dirty="0"/>
              <a:t>(</a:t>
            </a:r>
            <a:r>
              <a:rPr lang="en-US" sz="1600" dirty="0" err="1"/>
              <a:t>file_name</a:t>
            </a:r>
            <a:r>
              <a:rPr lang="en-US" sz="1600" dirty="0"/>
              <a:t>, </a:t>
            </a:r>
            <a:r>
              <a:rPr lang="en-US" sz="1600" dirty="0" err="1"/>
              <a:t>parse_dates</a:t>
            </a:r>
            <a:r>
              <a:rPr lang="en-US" sz="1600" dirty="0"/>
              <a:t>=["</a:t>
            </a:r>
            <a:r>
              <a:rPr lang="en-US" sz="1600" dirty="0" err="1"/>
              <a:t>Date_Time</a:t>
            </a:r>
            <a:r>
              <a:rPr lang="en-US" sz="1600" dirty="0"/>
              <a:t>"])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df</a:t>
            </a:r>
            <a:r>
              <a:rPr lang="en-US" sz="1600" dirty="0"/>
              <a:t> = </a:t>
            </a:r>
            <a:r>
              <a:rPr lang="en-US" sz="1600" dirty="0" err="1"/>
              <a:t>df.set_index</a:t>
            </a:r>
            <a:r>
              <a:rPr lang="en-US" sz="1600" dirty="0"/>
              <a:t>("</a:t>
            </a:r>
            <a:r>
              <a:rPr lang="en-US" sz="1600" dirty="0" err="1"/>
              <a:t>Date_Time</a:t>
            </a:r>
            <a:r>
              <a:rPr lang="en-US" sz="1600" dirty="0"/>
              <a:t>").</a:t>
            </a:r>
            <a:r>
              <a:rPr lang="en-US" sz="1600" dirty="0" err="1"/>
              <a:t>sort_index</a:t>
            </a:r>
            <a:r>
              <a:rPr lang="en-US" sz="1600" dirty="0"/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df.head</a:t>
            </a:r>
            <a:r>
              <a:rPr lang="en-US" sz="1600" dirty="0"/>
              <a:t>()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phoenix_df</a:t>
            </a:r>
            <a:r>
              <a:rPr lang="en-US" sz="1600" dirty="0"/>
              <a:t> = </a:t>
            </a:r>
            <a:r>
              <a:rPr lang="en-US" sz="1600" dirty="0" err="1"/>
              <a:t>df</a:t>
            </a:r>
            <a:r>
              <a:rPr lang="en-US" sz="1600" dirty="0"/>
              <a:t>[</a:t>
            </a:r>
            <a:r>
              <a:rPr lang="en-US" sz="1600" dirty="0" err="1"/>
              <a:t>df</a:t>
            </a:r>
            <a:r>
              <a:rPr lang="en-US" sz="1600" dirty="0"/>
              <a:t>["Location"] == "Phoenix"]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phoenix_df</a:t>
            </a:r>
            <a:r>
              <a:rPr lang="en-US" sz="1600" dirty="0"/>
              <a:t> = </a:t>
            </a:r>
            <a:r>
              <a:rPr lang="en-US" sz="1600" dirty="0" err="1"/>
              <a:t>phoenix_df.rename</a:t>
            </a:r>
            <a:r>
              <a:rPr lang="en-US" sz="1600" dirty="0"/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   columns={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       "</a:t>
            </a:r>
            <a:r>
              <a:rPr lang="en-US" sz="1600" dirty="0" err="1"/>
              <a:t>Temperature_C</a:t>
            </a:r>
            <a:r>
              <a:rPr lang="en-US" sz="1600" dirty="0"/>
              <a:t>": "Temperature",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       "</a:t>
            </a:r>
            <a:r>
              <a:rPr lang="en-US" sz="1600" dirty="0" err="1"/>
              <a:t>Humidity_pct</a:t>
            </a:r>
            <a:r>
              <a:rPr lang="en-US" sz="1600" dirty="0"/>
              <a:t>": "Humidity",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       "</a:t>
            </a:r>
            <a:r>
              <a:rPr lang="en-US" sz="1600" dirty="0" err="1"/>
              <a:t>Precipitation_mm</a:t>
            </a:r>
            <a:r>
              <a:rPr lang="en-US" sz="1600" dirty="0"/>
              <a:t>": "Precipitation",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       "</a:t>
            </a:r>
            <a:r>
              <a:rPr lang="en-US" sz="1600" dirty="0" err="1"/>
              <a:t>Wind_Speed_kmh</a:t>
            </a:r>
            <a:r>
              <a:rPr lang="en-US" sz="1600" dirty="0"/>
              <a:t>": "</a:t>
            </a:r>
            <a:r>
              <a:rPr lang="en-US" sz="1600" dirty="0" err="1"/>
              <a:t>Wind_Speed</a:t>
            </a:r>
            <a:r>
              <a:rPr lang="en-US" sz="1600" dirty="0"/>
              <a:t>",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phoenix_df.head</a:t>
            </a:r>
            <a:r>
              <a:rPr lang="en-US" sz="1600" dirty="0"/>
              <a:t>()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C50BD-8AF7-C4A0-73AD-2280C0ED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7743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9B72-F8CE-0FD6-AC22-F605E96D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Weather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5182A-15CD-F86E-341A-FD6B9BCC8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50" y="1120347"/>
            <a:ext cx="11009850" cy="573765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temp = </a:t>
            </a:r>
            <a:r>
              <a:rPr lang="en-US" sz="1600" dirty="0" err="1"/>
              <a:t>phoenix_df</a:t>
            </a:r>
            <a:r>
              <a:rPr lang="en-US" sz="1600" dirty="0"/>
              <a:t>[‘Temperature’]</a:t>
            </a:r>
            <a:r>
              <a:rPr lang="pl-PL" sz="1600" dirty="0"/>
              <a:t>.values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humd</a:t>
            </a:r>
            <a:r>
              <a:rPr lang="en-US" sz="1600" dirty="0"/>
              <a:t> = </a:t>
            </a:r>
            <a:r>
              <a:rPr lang="en-US" sz="1600" dirty="0" err="1"/>
              <a:t>phoenix_df</a:t>
            </a:r>
            <a:r>
              <a:rPr lang="en-US" sz="1600" dirty="0"/>
              <a:t>[‘Humidity’]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prec</a:t>
            </a:r>
            <a:r>
              <a:rPr lang="en-US" sz="1600" dirty="0"/>
              <a:t> = </a:t>
            </a:r>
            <a:r>
              <a:rPr lang="en-US" sz="1600" dirty="0" err="1"/>
              <a:t>phoenix_df</a:t>
            </a:r>
            <a:r>
              <a:rPr lang="en-US" sz="1600" dirty="0"/>
              <a:t>[‘Precipitation’]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wind = </a:t>
            </a:r>
            <a:r>
              <a:rPr lang="en-US" sz="1600" dirty="0" err="1"/>
              <a:t>phoenix_df</a:t>
            </a:r>
            <a:r>
              <a:rPr lang="en-US" sz="1600" dirty="0"/>
              <a:t>[‘</a:t>
            </a:r>
            <a:r>
              <a:rPr lang="en-US" sz="1600" dirty="0" err="1"/>
              <a:t>Wind_Speed</a:t>
            </a:r>
            <a:r>
              <a:rPr lang="en-US" sz="1600" dirty="0"/>
              <a:t>’]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n_past</a:t>
            </a:r>
            <a:r>
              <a:rPr lang="en-US" sz="1600" dirty="0"/>
              <a:t> = 14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n_steps</a:t>
            </a:r>
            <a:r>
              <a:rPr lang="en-US" sz="1600" dirty="0"/>
              <a:t> =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X_humd</a:t>
            </a:r>
            <a:r>
              <a:rPr lang="en-US" sz="1600" dirty="0"/>
              <a:t>, </a:t>
            </a:r>
            <a:r>
              <a:rPr lang="en-US" sz="1600" dirty="0" err="1"/>
              <a:t>y_humd</a:t>
            </a:r>
            <a:r>
              <a:rPr lang="en-US" sz="1600" dirty="0"/>
              <a:t> = </a:t>
            </a:r>
            <a:r>
              <a:rPr lang="en-US" sz="1600" dirty="0" err="1"/>
              <a:t>split_sequence</a:t>
            </a:r>
            <a:r>
              <a:rPr lang="en-US" sz="1600" dirty="0"/>
              <a:t>(</a:t>
            </a:r>
            <a:r>
              <a:rPr lang="en-US" sz="1600" dirty="0" err="1"/>
              <a:t>humd</a:t>
            </a:r>
            <a:r>
              <a:rPr lang="en-US" sz="1600" dirty="0"/>
              <a:t>, </a:t>
            </a:r>
            <a:r>
              <a:rPr lang="en-US" sz="1600" dirty="0" err="1"/>
              <a:t>n_past</a:t>
            </a:r>
            <a:r>
              <a:rPr lang="en-US" sz="1600" dirty="0"/>
              <a:t>, </a:t>
            </a:r>
            <a:r>
              <a:rPr lang="en-US" sz="1600" dirty="0" err="1"/>
              <a:t>n_steps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X_prec</a:t>
            </a:r>
            <a:r>
              <a:rPr lang="en-US" sz="1600" dirty="0"/>
              <a:t>, </a:t>
            </a:r>
            <a:r>
              <a:rPr lang="en-US" sz="1600" dirty="0" err="1"/>
              <a:t>y_prec</a:t>
            </a:r>
            <a:r>
              <a:rPr lang="en-US" sz="1600" dirty="0"/>
              <a:t> = </a:t>
            </a:r>
            <a:r>
              <a:rPr lang="en-US" sz="1600" dirty="0" err="1"/>
              <a:t>split_sequence</a:t>
            </a:r>
            <a:r>
              <a:rPr lang="en-US" sz="1600" dirty="0"/>
              <a:t>(</a:t>
            </a:r>
            <a:r>
              <a:rPr lang="en-US" sz="1600" dirty="0" err="1"/>
              <a:t>prec</a:t>
            </a:r>
            <a:r>
              <a:rPr lang="en-US" sz="1600" dirty="0"/>
              <a:t>, </a:t>
            </a:r>
            <a:r>
              <a:rPr lang="en-US" sz="1600" dirty="0" err="1"/>
              <a:t>n_past</a:t>
            </a:r>
            <a:r>
              <a:rPr lang="en-US" sz="1600" dirty="0"/>
              <a:t>, </a:t>
            </a:r>
            <a:r>
              <a:rPr lang="en-US" sz="1600" dirty="0" err="1"/>
              <a:t>n_steps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X_wind</a:t>
            </a:r>
            <a:r>
              <a:rPr lang="en-US" sz="1600" dirty="0"/>
              <a:t>, </a:t>
            </a:r>
            <a:r>
              <a:rPr lang="en-US" sz="1600" dirty="0" err="1"/>
              <a:t>y_wind</a:t>
            </a:r>
            <a:r>
              <a:rPr lang="en-US" sz="1600" dirty="0"/>
              <a:t> = </a:t>
            </a:r>
            <a:r>
              <a:rPr lang="en-US" sz="1600" dirty="0" err="1"/>
              <a:t>split_sequence</a:t>
            </a:r>
            <a:r>
              <a:rPr lang="en-US" sz="1600" dirty="0"/>
              <a:t>(wind, </a:t>
            </a:r>
            <a:r>
              <a:rPr lang="en-US" sz="1600" dirty="0" err="1"/>
              <a:t>n_past</a:t>
            </a:r>
            <a:r>
              <a:rPr lang="en-US" sz="1600" dirty="0"/>
              <a:t>, </a:t>
            </a:r>
            <a:r>
              <a:rPr lang="en-US" sz="1600" dirty="0" err="1"/>
              <a:t>n_steps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X_temp</a:t>
            </a:r>
            <a:r>
              <a:rPr lang="en-US" sz="1600" dirty="0"/>
              <a:t>, </a:t>
            </a:r>
            <a:r>
              <a:rPr lang="en-US" sz="1600" dirty="0" err="1"/>
              <a:t>y_temp</a:t>
            </a:r>
            <a:r>
              <a:rPr lang="en-US" sz="1600" dirty="0"/>
              <a:t> = </a:t>
            </a:r>
            <a:r>
              <a:rPr lang="en-US" sz="1600" dirty="0" err="1"/>
              <a:t>split_sequence</a:t>
            </a:r>
            <a:r>
              <a:rPr lang="en-US" sz="1600" dirty="0"/>
              <a:t>(temp, </a:t>
            </a:r>
            <a:r>
              <a:rPr lang="en-US" sz="1600" dirty="0" err="1"/>
              <a:t>n_past</a:t>
            </a:r>
            <a:r>
              <a:rPr lang="en-US" sz="1600" dirty="0"/>
              <a:t>, </a:t>
            </a:r>
            <a:r>
              <a:rPr lang="en-US" sz="1600" dirty="0" err="1"/>
              <a:t>n_steps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X = </a:t>
            </a:r>
            <a:r>
              <a:rPr lang="en-US" sz="1600" dirty="0" err="1"/>
              <a:t>np.concatenate</a:t>
            </a:r>
            <a:r>
              <a:rPr lang="en-US" sz="1600" dirty="0"/>
              <a:t>([</a:t>
            </a:r>
            <a:r>
              <a:rPr lang="en-US" sz="1600" dirty="0" err="1"/>
              <a:t>X_temp</a:t>
            </a:r>
            <a:r>
              <a:rPr lang="en-US" sz="1600" dirty="0"/>
              <a:t>, </a:t>
            </a:r>
            <a:r>
              <a:rPr lang="en-US" sz="1600" dirty="0" err="1"/>
              <a:t>X_humd</a:t>
            </a:r>
            <a:r>
              <a:rPr lang="en-US" sz="1600" dirty="0"/>
              <a:t>, </a:t>
            </a:r>
            <a:r>
              <a:rPr lang="en-US" sz="1600" dirty="0" err="1"/>
              <a:t>X_prec</a:t>
            </a:r>
            <a:r>
              <a:rPr lang="en-US" sz="1600" dirty="0"/>
              <a:t>, </a:t>
            </a:r>
            <a:r>
              <a:rPr lang="en-US" sz="1600" dirty="0" err="1"/>
              <a:t>X_wind</a:t>
            </a:r>
            <a:r>
              <a:rPr lang="en-US" sz="1600" dirty="0"/>
              <a:t>], axis=1)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y = </a:t>
            </a:r>
            <a:r>
              <a:rPr lang="en-US" sz="1600" dirty="0" err="1"/>
              <a:t>y_temp.copy</a:t>
            </a:r>
            <a:r>
              <a:rPr lang="en-US" sz="1600" dirty="0"/>
              <a:t>()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C50BD-8AF7-C4A0-73AD-2280C0ED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044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0437-B130-7FBD-3227-91554200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MLP for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7AC43-6FCA-AE8A-FFB5-E76C410ED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9808" y="1248509"/>
            <a:ext cx="11972192" cy="5472966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X_train</a:t>
            </a:r>
            <a:r>
              <a:rPr lang="en-US" sz="1400" dirty="0"/>
              <a:t>, </a:t>
            </a:r>
            <a:r>
              <a:rPr lang="en-US" sz="1400" dirty="0" err="1"/>
              <a:t>X_rem</a:t>
            </a:r>
            <a:r>
              <a:rPr lang="en-US" sz="1400" dirty="0"/>
              <a:t>, </a:t>
            </a:r>
            <a:r>
              <a:rPr lang="en-US" sz="1400" dirty="0" err="1"/>
              <a:t>y_train</a:t>
            </a:r>
            <a:r>
              <a:rPr lang="en-US" sz="1400" dirty="0"/>
              <a:t>, </a:t>
            </a:r>
            <a:r>
              <a:rPr lang="en-US" sz="1400" dirty="0" err="1"/>
              <a:t>y_rem</a:t>
            </a:r>
            <a:r>
              <a:rPr lang="en-US" sz="1400" dirty="0"/>
              <a:t> = </a:t>
            </a:r>
            <a:r>
              <a:rPr lang="en-US" sz="1400" dirty="0" err="1"/>
              <a:t>train_test_split</a:t>
            </a:r>
            <a:r>
              <a:rPr lang="en-US" sz="1400" dirty="0"/>
              <a:t>(X, y, </a:t>
            </a:r>
            <a:r>
              <a:rPr lang="en-US" sz="1400" dirty="0" err="1"/>
              <a:t>train_size</a:t>
            </a:r>
            <a:r>
              <a:rPr lang="en-US" sz="1400" dirty="0"/>
              <a:t>=0.7, shuffle=False)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X_val</a:t>
            </a:r>
            <a:r>
              <a:rPr lang="en-US" sz="1400" dirty="0"/>
              <a:t>, </a:t>
            </a:r>
            <a:r>
              <a:rPr lang="en-US" sz="1400" dirty="0" err="1"/>
              <a:t>X_test</a:t>
            </a:r>
            <a:r>
              <a:rPr lang="en-US" sz="1400" dirty="0"/>
              <a:t>, </a:t>
            </a:r>
            <a:r>
              <a:rPr lang="en-US" sz="1400" dirty="0" err="1"/>
              <a:t>y_val</a:t>
            </a:r>
            <a:r>
              <a:rPr lang="en-US" sz="1400" dirty="0"/>
              <a:t>, </a:t>
            </a:r>
            <a:r>
              <a:rPr lang="en-US" sz="1400" dirty="0" err="1"/>
              <a:t>y_test</a:t>
            </a:r>
            <a:r>
              <a:rPr lang="en-US" sz="1400" dirty="0"/>
              <a:t> = </a:t>
            </a:r>
            <a:r>
              <a:rPr lang="en-US" sz="1400" dirty="0" err="1"/>
              <a:t>train_test_split</a:t>
            </a:r>
            <a:r>
              <a:rPr lang="en-US" sz="1400" dirty="0"/>
              <a:t>(</a:t>
            </a:r>
            <a:r>
              <a:rPr lang="en-US" sz="1400" dirty="0" err="1"/>
              <a:t>X_rem</a:t>
            </a:r>
            <a:r>
              <a:rPr lang="en-US" sz="1400" dirty="0"/>
              <a:t>, </a:t>
            </a:r>
            <a:r>
              <a:rPr lang="en-US" sz="1400" dirty="0" err="1"/>
              <a:t>y_rem</a:t>
            </a:r>
            <a:r>
              <a:rPr lang="en-US" sz="1400" dirty="0"/>
              <a:t>, </a:t>
            </a:r>
            <a:r>
              <a:rPr lang="en-US" sz="1400" dirty="0" err="1"/>
              <a:t>test_size</a:t>
            </a:r>
            <a:r>
              <a:rPr lang="en-US" sz="1400" dirty="0"/>
              <a:t>=0.5, shuffle=False)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num_features</a:t>
            </a:r>
            <a:r>
              <a:rPr lang="en-US" sz="1400" dirty="0"/>
              <a:t> = </a:t>
            </a:r>
            <a:r>
              <a:rPr lang="en-US" sz="1400" dirty="0" err="1"/>
              <a:t>X.shape</a:t>
            </a:r>
            <a:r>
              <a:rPr lang="en-US" sz="1400" dirty="0"/>
              <a:t>[1]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input_layer</a:t>
            </a:r>
            <a:r>
              <a:rPr lang="en-US" sz="1400" dirty="0"/>
              <a:t> = Input(shape=(</a:t>
            </a:r>
            <a:r>
              <a:rPr lang="en-US" sz="1400" dirty="0" err="1"/>
              <a:t>num_features</a:t>
            </a:r>
            <a:r>
              <a:rPr lang="en-US" sz="1400" dirty="0"/>
              <a:t>, 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hidden_layer_1 = Dense(</a:t>
            </a:r>
            <a:r>
              <a:rPr lang="en-US" sz="1400" dirty="0" err="1"/>
              <a:t>num_features</a:t>
            </a:r>
            <a:r>
              <a:rPr lang="en-US" sz="1400" dirty="0"/>
              <a:t>, activation='</a:t>
            </a:r>
            <a:r>
              <a:rPr lang="en-US" sz="1400" dirty="0" err="1"/>
              <a:t>relu</a:t>
            </a:r>
            <a:r>
              <a:rPr lang="en-US" sz="1400" dirty="0"/>
              <a:t>')(</a:t>
            </a:r>
            <a:r>
              <a:rPr lang="en-US" sz="1400" dirty="0" err="1"/>
              <a:t>input_layer</a:t>
            </a:r>
            <a:r>
              <a:rPr lang="en-US" sz="14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hidden_layer_2 = Dense(int(</a:t>
            </a:r>
            <a:r>
              <a:rPr lang="en-US" sz="1400" dirty="0" err="1"/>
              <a:t>num_features</a:t>
            </a:r>
            <a:r>
              <a:rPr lang="en-US" sz="1400" dirty="0"/>
              <a:t>/2), activation='</a:t>
            </a:r>
            <a:r>
              <a:rPr lang="en-US" sz="1400" dirty="0" err="1"/>
              <a:t>relu</a:t>
            </a:r>
            <a:r>
              <a:rPr lang="en-US" sz="1400" dirty="0"/>
              <a:t>')(hidden_layer_1)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hidden_layer_3 = Dense(int(</a:t>
            </a:r>
            <a:r>
              <a:rPr lang="en-US" sz="1400" dirty="0" err="1"/>
              <a:t>num_features</a:t>
            </a:r>
            <a:r>
              <a:rPr lang="en-US" sz="1400" dirty="0"/>
              <a:t>/4), activation='</a:t>
            </a:r>
            <a:r>
              <a:rPr lang="en-US" sz="1400" dirty="0" err="1"/>
              <a:t>relu</a:t>
            </a:r>
            <a:r>
              <a:rPr lang="en-US" sz="1400" dirty="0"/>
              <a:t>')(hidden_layer_2)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output_layer</a:t>
            </a:r>
            <a:r>
              <a:rPr lang="en-US" sz="1400" dirty="0"/>
              <a:t> = Dense(1, activation='</a:t>
            </a:r>
            <a:r>
              <a:rPr lang="en-US" sz="1400" dirty="0" err="1"/>
              <a:t>relu</a:t>
            </a:r>
            <a:r>
              <a:rPr lang="en-US" sz="1400" dirty="0"/>
              <a:t>')(hidden_layer_3)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mlp</a:t>
            </a:r>
            <a:r>
              <a:rPr lang="en-US" sz="1400" dirty="0"/>
              <a:t> = Model(inputs=[</a:t>
            </a:r>
            <a:r>
              <a:rPr lang="en-US" sz="1400" dirty="0" err="1"/>
              <a:t>input_layer</a:t>
            </a:r>
            <a:r>
              <a:rPr lang="en-US" sz="1400" dirty="0"/>
              <a:t>], outputs=[</a:t>
            </a:r>
            <a:r>
              <a:rPr lang="en-US" sz="1400" dirty="0" err="1"/>
              <a:t>output_layer</a:t>
            </a:r>
            <a:r>
              <a:rPr lang="en-US" sz="1400" dirty="0"/>
              <a:t>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mlp.compile</a:t>
            </a:r>
            <a:r>
              <a:rPr lang="en-US" sz="1400" dirty="0"/>
              <a:t>(loss='</a:t>
            </a:r>
            <a:r>
              <a:rPr lang="en-US" sz="1400" dirty="0" err="1"/>
              <a:t>mse</a:t>
            </a:r>
            <a:r>
              <a:rPr lang="en-US" sz="1400" dirty="0"/>
              <a:t>', optimizer='</a:t>
            </a:r>
            <a:r>
              <a:rPr lang="en-US" sz="1400" dirty="0" err="1"/>
              <a:t>adam</a:t>
            </a:r>
            <a:r>
              <a:rPr lang="en-US" sz="1400" dirty="0"/>
              <a:t>’)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train_hist</a:t>
            </a:r>
            <a:r>
              <a:rPr lang="en-US" sz="1400" dirty="0"/>
              <a:t> = </a:t>
            </a:r>
            <a:r>
              <a:rPr lang="en-US" sz="1400" dirty="0" err="1"/>
              <a:t>mlp.fit</a:t>
            </a:r>
            <a:r>
              <a:rPr lang="en-US" sz="1400" dirty="0"/>
              <a:t>(</a:t>
            </a:r>
            <a:r>
              <a:rPr lang="en-US" sz="1400" dirty="0" err="1"/>
              <a:t>X_train</a:t>
            </a:r>
            <a:r>
              <a:rPr lang="en-US" sz="1400" dirty="0"/>
              <a:t>, </a:t>
            </a:r>
            <a:r>
              <a:rPr lang="en-US" sz="1400" dirty="0" err="1"/>
              <a:t>y_train</a:t>
            </a:r>
            <a:r>
              <a:rPr lang="en-US" sz="1400" dirty="0"/>
              <a:t>, epochs=50, </a:t>
            </a:r>
            <a:r>
              <a:rPr lang="en-US" sz="1400" dirty="0" err="1"/>
              <a:t>batch_size</a:t>
            </a:r>
            <a:r>
              <a:rPr lang="en-US" sz="1400" dirty="0"/>
              <a:t>=256, </a:t>
            </a:r>
            <a:r>
              <a:rPr lang="en-US" sz="1400" dirty="0" err="1"/>
              <a:t>validation_data</a:t>
            </a:r>
            <a:r>
              <a:rPr lang="en-US" sz="1400" dirty="0"/>
              <a:t>=(</a:t>
            </a:r>
            <a:r>
              <a:rPr lang="en-US" sz="1400" dirty="0" err="1"/>
              <a:t>X_val</a:t>
            </a:r>
            <a:r>
              <a:rPr lang="en-US" sz="1400" dirty="0"/>
              <a:t>, </a:t>
            </a:r>
            <a:r>
              <a:rPr lang="en-US" sz="1400" dirty="0" err="1"/>
              <a:t>y_val</a:t>
            </a:r>
            <a:r>
              <a:rPr lang="en-US" sz="1400" dirty="0"/>
              <a:t>), verbose=2)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y_pred</a:t>
            </a:r>
            <a:r>
              <a:rPr lang="en-US" sz="1400" dirty="0"/>
              <a:t> = </a:t>
            </a:r>
            <a:r>
              <a:rPr lang="en-US" sz="1400" dirty="0" err="1"/>
              <a:t>mlp.predict</a:t>
            </a:r>
            <a:r>
              <a:rPr lang="en-US" sz="1400" dirty="0"/>
              <a:t>(</a:t>
            </a:r>
            <a:r>
              <a:rPr lang="en-US" sz="1400" dirty="0" err="1"/>
              <a:t>X_test</a:t>
            </a:r>
            <a:r>
              <a:rPr lang="en-US" sz="14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plt.figure</a:t>
            </a:r>
            <a:r>
              <a:rPr lang="en-US" sz="1400" dirty="0"/>
              <a:t>(</a:t>
            </a:r>
            <a:r>
              <a:rPr lang="en-US" sz="1400" dirty="0" err="1"/>
              <a:t>figsize</a:t>
            </a:r>
            <a:r>
              <a:rPr lang="en-US" sz="1400" dirty="0"/>
              <a:t>=(10, 5))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plt.plot</a:t>
            </a:r>
            <a:r>
              <a:rPr lang="en-US" sz="1400" dirty="0"/>
              <a:t>(</a:t>
            </a:r>
            <a:r>
              <a:rPr lang="en-US" sz="1400" dirty="0" err="1"/>
              <a:t>y_pred</a:t>
            </a:r>
            <a:r>
              <a:rPr lang="en-US" sz="1400" dirty="0"/>
              <a:t>[:100])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/>
              <a:t>plt.plot</a:t>
            </a:r>
            <a:r>
              <a:rPr lang="en-US" sz="1400" dirty="0"/>
              <a:t>(</a:t>
            </a:r>
            <a:r>
              <a:rPr lang="en-US" sz="1400" dirty="0" err="1"/>
              <a:t>y_test</a:t>
            </a:r>
            <a:r>
              <a:rPr lang="en-US" sz="1400" dirty="0"/>
              <a:t>[:100])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7B894-B52F-F396-1B1B-51419D62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42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C3E1E0-49B4-03B9-B052-8EF608C26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547" y="2110914"/>
            <a:ext cx="5130678" cy="263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4328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7090-221A-9652-8149-DC3B5EDD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Recurrent Neuron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4536A-0827-394B-1AAB-D620D11D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43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795DE-7BC5-311C-6D71-F196D9CCBF88}"/>
              </a:ext>
            </a:extLst>
          </p:cNvPr>
          <p:cNvSpPr txBox="1"/>
          <p:nvPr/>
        </p:nvSpPr>
        <p:spPr>
          <a:xfrm>
            <a:off x="4016828" y="1317171"/>
            <a:ext cx="8044097" cy="5404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dirty="0" smtClean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dirty="0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dirty="0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dirty="0"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dirty="0"/>
              <a:t>from </a:t>
            </a:r>
            <a:r>
              <a:rPr lang="en-US" sz="1800" dirty="0" err="1"/>
              <a:t>keras.layers</a:t>
            </a:r>
            <a:r>
              <a:rPr lang="en-US" sz="1800" dirty="0"/>
              <a:t> import </a:t>
            </a:r>
            <a:r>
              <a:rPr lang="en-US" sz="1800" dirty="0" err="1"/>
              <a:t>SimpleRNN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 err="1"/>
              <a:t>input_layer</a:t>
            </a:r>
            <a:r>
              <a:rPr lang="en-US" sz="1800" dirty="0"/>
              <a:t> = Input(shape=(</a:t>
            </a:r>
            <a:r>
              <a:rPr lang="en-US" sz="1800" dirty="0" err="1"/>
              <a:t>n_past</a:t>
            </a:r>
            <a:r>
              <a:rPr lang="en-US" sz="1800" dirty="0"/>
              <a:t>, </a:t>
            </a:r>
            <a:r>
              <a:rPr lang="en-US" sz="1800" dirty="0" err="1"/>
              <a:t>X.shape</a:t>
            </a:r>
            <a:r>
              <a:rPr lang="en-US" sz="1800" dirty="0"/>
              <a:t>[-1], ))</a:t>
            </a:r>
          </a:p>
          <a:p>
            <a:r>
              <a:rPr lang="en-US" sz="1800" dirty="0" err="1"/>
              <a:t>recurrent_layer</a:t>
            </a:r>
            <a:r>
              <a:rPr lang="en-US" sz="1800" dirty="0"/>
              <a:t> = </a:t>
            </a:r>
            <a:r>
              <a:rPr lang="en-US" sz="1800" dirty="0" err="1"/>
              <a:t>SimpleRNN</a:t>
            </a:r>
            <a:r>
              <a:rPr lang="en-US" sz="1800" dirty="0"/>
              <a:t>(1, activation=None)(</a:t>
            </a:r>
            <a:r>
              <a:rPr lang="en-US" sz="1800" dirty="0" err="1"/>
              <a:t>input_layer</a:t>
            </a:r>
            <a:r>
              <a:rPr lang="en-US" sz="1800" dirty="0"/>
              <a:t>)</a:t>
            </a:r>
          </a:p>
          <a:p>
            <a:endParaRPr lang="en-US" sz="1800" dirty="0"/>
          </a:p>
          <a:p>
            <a:r>
              <a:rPr lang="en-US" sz="1800" dirty="0" err="1"/>
              <a:t>recurrent_neuron</a:t>
            </a:r>
            <a:r>
              <a:rPr lang="en-US" sz="1800" dirty="0"/>
              <a:t> = Model(inputs=[</a:t>
            </a:r>
            <a:r>
              <a:rPr lang="en-US" sz="1800" dirty="0" err="1"/>
              <a:t>input_layer</a:t>
            </a:r>
            <a:r>
              <a:rPr lang="en-US" sz="1800" dirty="0"/>
              <a:t>], outputs=[</a:t>
            </a:r>
            <a:r>
              <a:rPr lang="en-US" sz="1800" dirty="0" err="1"/>
              <a:t>recurrent_layer</a:t>
            </a:r>
            <a:r>
              <a:rPr lang="en-US" sz="1800" dirty="0"/>
              <a:t>])</a:t>
            </a:r>
          </a:p>
          <a:p>
            <a:r>
              <a:rPr lang="en-US" sz="1800" dirty="0" err="1"/>
              <a:t>recurrent_neuron.compile</a:t>
            </a:r>
            <a:r>
              <a:rPr lang="en-US" sz="1800" dirty="0"/>
              <a:t>(loss='</a:t>
            </a:r>
            <a:r>
              <a:rPr lang="en-US" sz="1800" dirty="0" err="1"/>
              <a:t>mse</a:t>
            </a:r>
            <a:r>
              <a:rPr lang="en-US" sz="1800" dirty="0"/>
              <a:t>', optimizer='</a:t>
            </a:r>
            <a:r>
              <a:rPr lang="en-US" sz="1800" dirty="0" err="1"/>
              <a:t>adam</a:t>
            </a:r>
            <a:r>
              <a:rPr lang="en-US" sz="1800" dirty="0"/>
              <a:t>’)</a:t>
            </a:r>
          </a:p>
          <a:p>
            <a:endParaRPr lang="en-US" sz="1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EC54C7-7E88-7644-AC98-75CA03BC7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75" y="1120347"/>
            <a:ext cx="3633531" cy="25788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F77FDC-CC28-E1E9-34EE-9A2173286353}"/>
              </a:ext>
            </a:extLst>
          </p:cNvPr>
          <p:cNvSpPr txBox="1"/>
          <p:nvPr/>
        </p:nvSpPr>
        <p:spPr>
          <a:xfrm>
            <a:off x="131075" y="4940664"/>
            <a:ext cx="11929850" cy="1456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 err="1"/>
              <a:t>recurrent_neuron.fit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epochs=5, </a:t>
            </a:r>
            <a:r>
              <a:rPr lang="en-US" dirty="0" err="1"/>
              <a:t>batch_size</a:t>
            </a:r>
            <a:r>
              <a:rPr lang="en-US" dirty="0"/>
              <a:t>=256, </a:t>
            </a:r>
            <a:r>
              <a:rPr lang="en-US" dirty="0" err="1"/>
              <a:t>validation_split</a:t>
            </a:r>
            <a:r>
              <a:rPr lang="en-US" dirty="0"/>
              <a:t>=0.2, verbose=1)</a:t>
            </a:r>
          </a:p>
          <a:p>
            <a:endParaRPr lang="en-US" dirty="0"/>
          </a:p>
          <a:p>
            <a:r>
              <a:rPr lang="en-US" dirty="0" err="1"/>
              <a:t>y_pred_rn</a:t>
            </a:r>
            <a:r>
              <a:rPr lang="en-US" dirty="0"/>
              <a:t> = </a:t>
            </a:r>
            <a:r>
              <a:rPr lang="en-US" dirty="0" err="1"/>
              <a:t>recurrent_neuron.predict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8329889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F07F-9AED-7FFD-EA59-44B908E0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</a:t>
            </a:r>
            <a:endParaRPr lang="en-15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C8898-4707-46FB-D967-9E30C41A1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2143" y="1120347"/>
            <a:ext cx="11723914" cy="573765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from </a:t>
            </a:r>
            <a:r>
              <a:rPr lang="en-US" sz="1800" dirty="0" err="1"/>
              <a:t>keras.layers</a:t>
            </a:r>
            <a:r>
              <a:rPr lang="en-US" sz="1800" dirty="0"/>
              <a:t> import Flatten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input_layer</a:t>
            </a:r>
            <a:r>
              <a:rPr lang="en-US" sz="1800" dirty="0"/>
              <a:t> = Input(shape=(</a:t>
            </a:r>
            <a:r>
              <a:rPr lang="en-US" sz="1800" dirty="0" err="1"/>
              <a:t>n_past</a:t>
            </a:r>
            <a:r>
              <a:rPr lang="en-US" sz="1800" dirty="0"/>
              <a:t>, </a:t>
            </a:r>
            <a:r>
              <a:rPr lang="en-US" sz="1800" dirty="0" err="1"/>
              <a:t>X.shape</a:t>
            </a:r>
            <a:r>
              <a:rPr lang="en-US" sz="1800" dirty="0"/>
              <a:t>[-1], 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recurrent_layer</a:t>
            </a:r>
            <a:r>
              <a:rPr lang="en-US" sz="1800" dirty="0"/>
              <a:t> = </a:t>
            </a:r>
            <a:r>
              <a:rPr lang="en-US" sz="1800" dirty="0" err="1"/>
              <a:t>SimpleRNN</a:t>
            </a:r>
            <a:r>
              <a:rPr lang="en-US" sz="1800" dirty="0"/>
              <a:t>(</a:t>
            </a:r>
            <a:r>
              <a:rPr lang="en-US" sz="1800" dirty="0" err="1"/>
              <a:t>X.shape</a:t>
            </a:r>
            <a:r>
              <a:rPr lang="en-US" sz="1800" dirty="0"/>
              <a:t>[-1], activation='sigmoid')(</a:t>
            </a:r>
            <a:r>
              <a:rPr lang="en-US" sz="1800" dirty="0" err="1"/>
              <a:t>input_layer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flatten_layer</a:t>
            </a:r>
            <a:r>
              <a:rPr lang="en-US" sz="1800" dirty="0"/>
              <a:t> = Flatten()(</a:t>
            </a:r>
            <a:r>
              <a:rPr lang="en-US" sz="1800" dirty="0" err="1"/>
              <a:t>recurrent_layer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# Fully Connected Layers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hl_1 = Dense(</a:t>
            </a:r>
            <a:r>
              <a:rPr lang="en-US" sz="1800" dirty="0" err="1"/>
              <a:t>X.shape</a:t>
            </a:r>
            <a:r>
              <a:rPr lang="en-US" sz="1800" dirty="0"/>
              <a:t>[-1], activation='sigmoid')(</a:t>
            </a:r>
            <a:r>
              <a:rPr lang="en-US" sz="1800" dirty="0" err="1"/>
              <a:t>flatten_layer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hl_2 = Dense(int(</a:t>
            </a:r>
            <a:r>
              <a:rPr lang="en-US" sz="1800" dirty="0" err="1"/>
              <a:t>X.shape</a:t>
            </a:r>
            <a:r>
              <a:rPr lang="en-US" sz="1800" dirty="0"/>
              <a:t>[-1]/2), activation='sigmoid')(hl_1)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output_layer</a:t>
            </a:r>
            <a:r>
              <a:rPr lang="en-US" sz="1800" dirty="0"/>
              <a:t> = Dense(1)(hl_2)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rnn</a:t>
            </a:r>
            <a:r>
              <a:rPr lang="en-US" sz="1800" dirty="0"/>
              <a:t> = Model(inputs=[</a:t>
            </a:r>
            <a:r>
              <a:rPr lang="en-US" sz="1800" dirty="0" err="1"/>
              <a:t>input_layer</a:t>
            </a:r>
            <a:r>
              <a:rPr lang="en-US" sz="1800" dirty="0"/>
              <a:t>], outputs=[</a:t>
            </a:r>
            <a:r>
              <a:rPr lang="en-US" sz="1800" dirty="0" err="1"/>
              <a:t>output_layer</a:t>
            </a:r>
            <a:r>
              <a:rPr lang="en-US" sz="1800" dirty="0"/>
              <a:t>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rnn.compile</a:t>
            </a:r>
            <a:r>
              <a:rPr lang="en-US" sz="1800" dirty="0"/>
              <a:t>(loss='</a:t>
            </a:r>
            <a:r>
              <a:rPr lang="en-US" sz="1800" dirty="0" err="1"/>
              <a:t>mse</a:t>
            </a:r>
            <a:r>
              <a:rPr lang="en-US" sz="1800" dirty="0"/>
              <a:t>', optimizer='</a:t>
            </a:r>
            <a:r>
              <a:rPr lang="en-US" sz="1800" dirty="0" err="1"/>
              <a:t>adam</a:t>
            </a:r>
            <a:r>
              <a:rPr lang="en-US" sz="1800" dirty="0"/>
              <a:t>’)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rnn.fit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, epochs=5, </a:t>
            </a:r>
            <a:r>
              <a:rPr lang="en-US" sz="1800" dirty="0" err="1"/>
              <a:t>batch_size</a:t>
            </a:r>
            <a:r>
              <a:rPr lang="en-US" sz="1800" dirty="0"/>
              <a:t>=256, </a:t>
            </a:r>
            <a:r>
              <a:rPr lang="en-US" sz="1800" dirty="0" err="1"/>
              <a:t>validation_split</a:t>
            </a:r>
            <a:r>
              <a:rPr lang="en-US" sz="1800" dirty="0"/>
              <a:t>=0.2, verbose=1)</a:t>
            </a:r>
            <a:endParaRPr lang="en-150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D0734-9EB8-57B6-5A5E-C655B7D9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548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7EC4-DC3A-1355-B66B-A655B541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Short-Term Memory (LSTM)</a:t>
            </a:r>
            <a:endParaRPr lang="en-15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3FB75-5F4D-3D51-4439-783C02A61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6535" y="1120347"/>
            <a:ext cx="11743321" cy="560112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from </a:t>
            </a:r>
            <a:r>
              <a:rPr lang="en-US" sz="1800" dirty="0" err="1"/>
              <a:t>keras.layers</a:t>
            </a:r>
            <a:r>
              <a:rPr lang="en-US" sz="1800" dirty="0"/>
              <a:t> import LSTM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input_layer</a:t>
            </a:r>
            <a:r>
              <a:rPr lang="en-US" sz="1800" dirty="0"/>
              <a:t> = Input(shape=(</a:t>
            </a:r>
            <a:r>
              <a:rPr lang="en-US" sz="1800" dirty="0" err="1"/>
              <a:t>n_past</a:t>
            </a:r>
            <a:r>
              <a:rPr lang="en-US" sz="1800" dirty="0"/>
              <a:t>, </a:t>
            </a:r>
            <a:r>
              <a:rPr lang="en-US" sz="1800" dirty="0" err="1"/>
              <a:t>X.shape</a:t>
            </a:r>
            <a:r>
              <a:rPr lang="en-US" sz="1800" dirty="0"/>
              <a:t>[-1], 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lstm_layer</a:t>
            </a:r>
            <a:r>
              <a:rPr lang="en-US" sz="1800" dirty="0"/>
              <a:t> = LSTM(</a:t>
            </a:r>
            <a:r>
              <a:rPr lang="en-US" sz="1800" dirty="0" err="1"/>
              <a:t>X.shape</a:t>
            </a:r>
            <a:r>
              <a:rPr lang="en-US" sz="1800" dirty="0"/>
              <a:t>[-1])(</a:t>
            </a:r>
            <a:r>
              <a:rPr lang="en-US" sz="1800" dirty="0" err="1"/>
              <a:t>input_layer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flatten_layer</a:t>
            </a:r>
            <a:r>
              <a:rPr lang="en-US" sz="1800" dirty="0"/>
              <a:t> = Flatten()(</a:t>
            </a:r>
            <a:r>
              <a:rPr lang="en-US" sz="1800" dirty="0" err="1"/>
              <a:t>lstm_layer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# Fully Connected Layers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hl_1 = Dense(</a:t>
            </a:r>
            <a:r>
              <a:rPr lang="en-US" sz="1800" dirty="0" err="1"/>
              <a:t>X.shape</a:t>
            </a:r>
            <a:r>
              <a:rPr lang="en-US" sz="1800" dirty="0"/>
              <a:t>[-1], activation='sigmoid')(</a:t>
            </a:r>
            <a:r>
              <a:rPr lang="en-US" sz="1800" dirty="0" err="1"/>
              <a:t>flatten_layer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hl_2 = Dense(int(</a:t>
            </a:r>
            <a:r>
              <a:rPr lang="en-US" sz="1800" dirty="0" err="1"/>
              <a:t>X.shape</a:t>
            </a:r>
            <a:r>
              <a:rPr lang="en-US" sz="1800" dirty="0"/>
              <a:t>[-1]/2), activation='sigmoid')(hl_1)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output_layer</a:t>
            </a:r>
            <a:r>
              <a:rPr lang="en-US" sz="1800" dirty="0"/>
              <a:t> = Dense(1)(hl_2)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lstm</a:t>
            </a:r>
            <a:r>
              <a:rPr lang="en-US" sz="1800" dirty="0"/>
              <a:t> = Model(inputs=[</a:t>
            </a:r>
            <a:r>
              <a:rPr lang="en-US" sz="1800" dirty="0" err="1"/>
              <a:t>input_layer</a:t>
            </a:r>
            <a:r>
              <a:rPr lang="en-US" sz="1800" dirty="0"/>
              <a:t>], outputs=[</a:t>
            </a:r>
            <a:r>
              <a:rPr lang="en-US" sz="1800" dirty="0" err="1"/>
              <a:t>output_layer</a:t>
            </a:r>
            <a:r>
              <a:rPr lang="en-US" sz="1800" dirty="0"/>
              <a:t>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lstm.compile</a:t>
            </a:r>
            <a:r>
              <a:rPr lang="en-US" sz="1800" dirty="0"/>
              <a:t>(loss='</a:t>
            </a:r>
            <a:r>
              <a:rPr lang="en-US" sz="1800" dirty="0" err="1"/>
              <a:t>mse</a:t>
            </a:r>
            <a:r>
              <a:rPr lang="en-US" sz="1800" dirty="0"/>
              <a:t>', optimizer='</a:t>
            </a:r>
            <a:r>
              <a:rPr lang="en-US" sz="1800" dirty="0" err="1"/>
              <a:t>adam</a:t>
            </a:r>
            <a:r>
              <a:rPr lang="en-US" sz="1800" dirty="0"/>
              <a:t>', metrics=['</a:t>
            </a:r>
            <a:r>
              <a:rPr lang="en-US" sz="1800" dirty="0" err="1"/>
              <a:t>mae</a:t>
            </a:r>
            <a:r>
              <a:rPr lang="en-US" sz="1800" dirty="0"/>
              <a:t>', '</a:t>
            </a:r>
            <a:r>
              <a:rPr lang="en-US" sz="1800" dirty="0" err="1"/>
              <a:t>mape</a:t>
            </a:r>
            <a:r>
              <a:rPr lang="en-US" sz="1800" dirty="0"/>
              <a:t>’])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lstm.fit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, epochs=5, </a:t>
            </a:r>
            <a:r>
              <a:rPr lang="en-US" sz="1800" dirty="0" err="1"/>
              <a:t>batch_size</a:t>
            </a:r>
            <a:r>
              <a:rPr lang="en-US" sz="1800" dirty="0"/>
              <a:t>=256, </a:t>
            </a:r>
            <a:r>
              <a:rPr lang="en-US" sz="1800" dirty="0" err="1"/>
              <a:t>validation_split</a:t>
            </a:r>
            <a:r>
              <a:rPr lang="en-US" sz="1800" dirty="0"/>
              <a:t>=0.2, verbose=1)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333BF-A862-1DA9-5891-6A497D99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45</a:t>
            </a:fld>
            <a:endParaRPr lang="en-GB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37EF12F5-25A1-43B8-63F6-B8CAA7E275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583"/>
          <a:stretch/>
        </p:blipFill>
        <p:spPr>
          <a:xfrm>
            <a:off x="6265910" y="920967"/>
            <a:ext cx="5414461" cy="304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499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4BE2-3A2F-CA9E-1157-E06ACBF8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  <a:endParaRPr lang="en-15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22926-3296-39CB-5908-4E5FEC5FB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8599" y="1208314"/>
            <a:ext cx="11865429" cy="5388429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def </a:t>
            </a:r>
            <a:r>
              <a:rPr lang="en-US" sz="1800" dirty="0" err="1"/>
              <a:t>build_model</a:t>
            </a:r>
            <a:r>
              <a:rPr lang="en-US" sz="1800" dirty="0"/>
              <a:t>(hp):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</a:t>
            </a:r>
            <a:r>
              <a:rPr lang="en-US" sz="1800" dirty="0" err="1"/>
              <a:t>input_layer</a:t>
            </a:r>
            <a:r>
              <a:rPr lang="en-US" sz="1800" dirty="0"/>
              <a:t> = Input(shape=(</a:t>
            </a:r>
            <a:r>
              <a:rPr lang="en-US" sz="1800" dirty="0" err="1"/>
              <a:t>n_past</a:t>
            </a:r>
            <a:r>
              <a:rPr lang="en-US" sz="1800" dirty="0"/>
              <a:t>, </a:t>
            </a:r>
            <a:r>
              <a:rPr lang="en-US" sz="1800" dirty="0" err="1"/>
              <a:t>X.shape</a:t>
            </a:r>
            <a:r>
              <a:rPr lang="en-US" sz="1800" dirty="0"/>
              <a:t>[-1], 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</a:t>
            </a:r>
            <a:r>
              <a:rPr lang="en-US" sz="1800" dirty="0" err="1"/>
              <a:t>lstm_layer</a:t>
            </a:r>
            <a:r>
              <a:rPr lang="en-US" sz="1800" dirty="0"/>
              <a:t> = LSTM(units=</a:t>
            </a:r>
            <a:r>
              <a:rPr lang="en-US" sz="1800" dirty="0" err="1"/>
              <a:t>hp.Int</a:t>
            </a:r>
            <a:r>
              <a:rPr lang="en-US" sz="1800" dirty="0"/>
              <a:t>("</a:t>
            </a:r>
            <a:r>
              <a:rPr lang="en-US" sz="1800" dirty="0" err="1"/>
              <a:t>units_lstm</a:t>
            </a:r>
            <a:r>
              <a:rPr lang="en-US" sz="1800" dirty="0"/>
              <a:t>", </a:t>
            </a:r>
            <a:r>
              <a:rPr lang="en-US" sz="1800" dirty="0" err="1"/>
              <a:t>min_value</a:t>
            </a:r>
            <a:r>
              <a:rPr lang="en-US" sz="1800" dirty="0"/>
              <a:t>=4, </a:t>
            </a:r>
            <a:r>
              <a:rPr lang="en-US" sz="1800" dirty="0" err="1"/>
              <a:t>max_value</a:t>
            </a:r>
            <a:r>
              <a:rPr lang="en-US" sz="1800" dirty="0"/>
              <a:t>=36, step=16))(</a:t>
            </a:r>
            <a:r>
              <a:rPr lang="en-US" sz="1800" dirty="0" err="1"/>
              <a:t>input_layer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</a:t>
            </a:r>
            <a:r>
              <a:rPr lang="en-US" sz="1800" dirty="0" err="1"/>
              <a:t>flatten_layer</a:t>
            </a:r>
            <a:r>
              <a:rPr lang="en-US" sz="1800" dirty="0"/>
              <a:t> = Flatten()(</a:t>
            </a:r>
            <a:r>
              <a:rPr lang="en-US" sz="1800" dirty="0" err="1"/>
              <a:t>lstm_layer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# Fully Connected Layers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hl_1 = Dense(</a:t>
            </a:r>
            <a:r>
              <a:rPr lang="en-US" sz="1800" dirty="0" err="1"/>
              <a:t>hp.Int</a:t>
            </a:r>
            <a:r>
              <a:rPr lang="en-US" sz="1800" dirty="0"/>
              <a:t>("units", </a:t>
            </a:r>
            <a:r>
              <a:rPr lang="en-US" sz="1800" dirty="0" err="1"/>
              <a:t>min_value</a:t>
            </a:r>
            <a:r>
              <a:rPr lang="en-US" sz="1800" dirty="0"/>
              <a:t>=4, </a:t>
            </a:r>
            <a:r>
              <a:rPr lang="en-US" sz="1800" dirty="0" err="1"/>
              <a:t>max_value</a:t>
            </a:r>
            <a:r>
              <a:rPr lang="en-US" sz="1800" dirty="0"/>
              <a:t>=36, step=16),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activation=</a:t>
            </a:r>
            <a:r>
              <a:rPr lang="en-US" sz="1800" dirty="0" err="1"/>
              <a:t>hp.Choice</a:t>
            </a:r>
            <a:r>
              <a:rPr lang="en-US" sz="1800" dirty="0"/>
              <a:t>('activation', values=['</a:t>
            </a:r>
            <a:r>
              <a:rPr lang="en-US" sz="1800" dirty="0" err="1"/>
              <a:t>relu</a:t>
            </a:r>
            <a:r>
              <a:rPr lang="en-US" sz="1800" dirty="0"/>
              <a:t>', 'sigmoid']))(</a:t>
            </a:r>
            <a:r>
              <a:rPr lang="en-US" sz="1800" dirty="0" err="1"/>
              <a:t>flatten_layer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hl_2 = Dense(int(</a:t>
            </a:r>
            <a:r>
              <a:rPr lang="en-US" sz="1800" dirty="0" err="1"/>
              <a:t>X.shape</a:t>
            </a:r>
            <a:r>
              <a:rPr lang="en-US" sz="1800" dirty="0"/>
              <a:t>[-1]/2), activation='sigmoid')(hl_1)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</a:t>
            </a:r>
            <a:r>
              <a:rPr lang="en-US" sz="1800" dirty="0" err="1"/>
              <a:t>output_layer</a:t>
            </a:r>
            <a:r>
              <a:rPr lang="en-US" sz="1800" dirty="0"/>
              <a:t> = Dense(1)(hl_2)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</a:t>
            </a:r>
            <a:r>
              <a:rPr lang="en-US" sz="1800" dirty="0" err="1"/>
              <a:t>lstm</a:t>
            </a:r>
            <a:r>
              <a:rPr lang="en-US" sz="1800" dirty="0"/>
              <a:t> = Model(inputs=[</a:t>
            </a:r>
            <a:r>
              <a:rPr lang="en-US" sz="1800" dirty="0" err="1"/>
              <a:t>input_layer</a:t>
            </a:r>
            <a:r>
              <a:rPr lang="en-US" sz="1800" dirty="0"/>
              <a:t>], outputs=[</a:t>
            </a:r>
            <a:r>
              <a:rPr lang="en-US" sz="1800" dirty="0" err="1"/>
              <a:t>output_layer</a:t>
            </a:r>
            <a:r>
              <a:rPr lang="en-US" sz="1800" dirty="0"/>
              <a:t>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</a:t>
            </a:r>
            <a:r>
              <a:rPr lang="en-US" sz="1800" dirty="0" err="1"/>
              <a:t>lstm.compile</a:t>
            </a:r>
            <a:r>
              <a:rPr lang="en-US" sz="1800" dirty="0"/>
              <a:t>(loss='</a:t>
            </a:r>
            <a:r>
              <a:rPr lang="en-US" sz="1800" dirty="0" err="1"/>
              <a:t>mse</a:t>
            </a:r>
            <a:r>
              <a:rPr lang="en-US" sz="1800" dirty="0"/>
              <a:t>', optimizer='</a:t>
            </a:r>
            <a:r>
              <a:rPr lang="en-US" sz="1800" dirty="0" err="1"/>
              <a:t>adam</a:t>
            </a:r>
            <a:r>
              <a:rPr lang="en-US" sz="1800" dirty="0"/>
              <a:t>', metrics=['</a:t>
            </a:r>
            <a:r>
              <a:rPr lang="en-US" sz="1800" dirty="0" err="1"/>
              <a:t>mae</a:t>
            </a:r>
            <a:r>
              <a:rPr lang="en-US" sz="1800" dirty="0"/>
              <a:t>', '</a:t>
            </a:r>
            <a:r>
              <a:rPr lang="en-US" sz="1800" dirty="0" err="1"/>
              <a:t>mape</a:t>
            </a:r>
            <a:r>
              <a:rPr lang="en-US" sz="1800" dirty="0"/>
              <a:t>'])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return </a:t>
            </a:r>
            <a:r>
              <a:rPr lang="en-US" sz="1800" dirty="0" err="1"/>
              <a:t>lstm</a:t>
            </a:r>
            <a:endParaRPr lang="en-150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F6310-E2CE-29E3-E6C1-DB03534B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2419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EF5E-4DAB-8948-AF94-E3528B3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6" y="1"/>
            <a:ext cx="10022213" cy="1120346"/>
          </a:xfrm>
        </p:spPr>
        <p:txBody>
          <a:bodyPr>
            <a:normAutofit/>
          </a:bodyPr>
          <a:lstStyle/>
          <a:p>
            <a:r>
              <a:rPr lang="en-US" sz="3600" dirty="0"/>
              <a:t>Hyperparameter Tuning</a:t>
            </a:r>
            <a:br>
              <a:rPr lang="en-US" sz="3600" dirty="0"/>
            </a:br>
            <a:r>
              <a:rPr lang="en-US" sz="3600" dirty="0"/>
              <a:t>Grid Search</a:t>
            </a:r>
            <a:endParaRPr lang="en-150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9462-F03F-9845-2957-A9E6B7E24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829" y="1447800"/>
            <a:ext cx="11691257" cy="47291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grid_search</a:t>
            </a:r>
            <a:r>
              <a:rPr lang="en-US" sz="1800" dirty="0"/>
              <a:t> = </a:t>
            </a:r>
            <a:r>
              <a:rPr lang="en-US" sz="1800" dirty="0" err="1"/>
              <a:t>GridSearch</a:t>
            </a:r>
            <a:r>
              <a:rPr lang="en-US" sz="1800" dirty="0"/>
              <a:t>(</a:t>
            </a:r>
            <a:r>
              <a:rPr lang="en-US" sz="1800" dirty="0" err="1"/>
              <a:t>build_model</a:t>
            </a:r>
            <a:r>
              <a:rPr lang="en-US" sz="180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objective='</a:t>
            </a:r>
            <a:r>
              <a:rPr lang="en-US" sz="1800" dirty="0" err="1"/>
              <a:t>val_loss</a:t>
            </a:r>
            <a:r>
              <a:rPr lang="en-US" sz="1800" dirty="0"/>
              <a:t>',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</a:t>
            </a:r>
            <a:r>
              <a:rPr lang="en-US" sz="1800" dirty="0" err="1"/>
              <a:t>max_trials</a:t>
            </a:r>
            <a:r>
              <a:rPr lang="en-US" sz="1800" dirty="0"/>
              <a:t>=5,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</a:t>
            </a:r>
            <a:r>
              <a:rPr lang="en-US" sz="1800" dirty="0" err="1"/>
              <a:t>executions_per_trial</a:t>
            </a:r>
            <a:r>
              <a:rPr lang="en-US" sz="1800" dirty="0"/>
              <a:t>=1,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directory='</a:t>
            </a:r>
            <a:r>
              <a:rPr lang="en-US" sz="1800" dirty="0" err="1"/>
              <a:t>hyperparameter_search</a:t>
            </a:r>
            <a:r>
              <a:rPr lang="en-US" sz="1800" dirty="0"/>
              <a:t>',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</a:t>
            </a:r>
            <a:r>
              <a:rPr lang="en-US" sz="1800" dirty="0" err="1"/>
              <a:t>project_name</a:t>
            </a:r>
            <a:r>
              <a:rPr lang="en-US" sz="1800" dirty="0"/>
              <a:t>='</a:t>
            </a:r>
            <a:r>
              <a:rPr lang="en-US" sz="1800" dirty="0" err="1"/>
              <a:t>grid_search_lstm</a:t>
            </a:r>
            <a:r>
              <a:rPr lang="en-US" sz="1800" dirty="0"/>
              <a:t>')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grid_search.search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, epochs=5,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</a:t>
            </a:r>
            <a:r>
              <a:rPr lang="en-US" sz="1800" dirty="0" err="1"/>
              <a:t>validation_split</a:t>
            </a:r>
            <a:r>
              <a:rPr lang="en-US" sz="1800" dirty="0"/>
              <a:t>=0.2)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print(</a:t>
            </a:r>
            <a:r>
              <a:rPr lang="en-US" sz="1800" dirty="0" err="1"/>
              <a:t>f"Best</a:t>
            </a:r>
            <a:r>
              <a:rPr lang="en-US" sz="1800" dirty="0"/>
              <a:t> Hyperparameters from Grid Search: {</a:t>
            </a:r>
            <a:r>
              <a:rPr lang="en-US" sz="1800" dirty="0" err="1"/>
              <a:t>grid_search.get_best_hyperparameters</a:t>
            </a:r>
            <a:r>
              <a:rPr lang="en-US" sz="1800" dirty="0"/>
              <a:t>()[0].values}")</a:t>
            </a:r>
            <a:endParaRPr lang="en-150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119EF-431C-C495-2E3E-D6C045D3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8839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7CE7-3620-22E0-1128-847D4E57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8657-DADF-C9F7-4350-5A1615C1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6" y="1"/>
            <a:ext cx="10022213" cy="1120346"/>
          </a:xfrm>
        </p:spPr>
        <p:txBody>
          <a:bodyPr>
            <a:normAutofit/>
          </a:bodyPr>
          <a:lstStyle/>
          <a:p>
            <a:r>
              <a:rPr lang="en-US" sz="3600" dirty="0"/>
              <a:t>Hyperparameter Tuning</a:t>
            </a:r>
            <a:br>
              <a:rPr lang="en-US" sz="3600" dirty="0"/>
            </a:br>
            <a:r>
              <a:rPr lang="en-US" sz="3600" dirty="0"/>
              <a:t>Random Search</a:t>
            </a:r>
            <a:endParaRPr lang="en-150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60A62-E82D-F6B2-CD63-A7751620C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829" y="1447800"/>
            <a:ext cx="11691257" cy="47291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random_search</a:t>
            </a:r>
            <a:r>
              <a:rPr lang="en-US" sz="1800" dirty="0"/>
              <a:t> = </a:t>
            </a:r>
            <a:r>
              <a:rPr lang="en-US" sz="1800" dirty="0" err="1"/>
              <a:t>RandomSearch</a:t>
            </a:r>
            <a:r>
              <a:rPr lang="en-US" sz="1800" dirty="0"/>
              <a:t>(</a:t>
            </a:r>
            <a:r>
              <a:rPr lang="en-US" sz="1800" dirty="0" err="1"/>
              <a:t>build_model</a:t>
            </a:r>
            <a:r>
              <a:rPr lang="en-US" sz="180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objective='</a:t>
            </a:r>
            <a:r>
              <a:rPr lang="en-US" sz="1800" dirty="0" err="1"/>
              <a:t>val_loss</a:t>
            </a:r>
            <a:r>
              <a:rPr lang="en-US" sz="1800" dirty="0"/>
              <a:t>',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</a:t>
            </a:r>
            <a:r>
              <a:rPr lang="en-US" sz="1800" dirty="0" err="1"/>
              <a:t>max_trials</a:t>
            </a:r>
            <a:r>
              <a:rPr lang="en-US" sz="1800" dirty="0"/>
              <a:t>=5,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</a:t>
            </a:r>
            <a:r>
              <a:rPr lang="en-US" sz="1800" dirty="0" err="1"/>
              <a:t>executions_per_trial</a:t>
            </a:r>
            <a:r>
              <a:rPr lang="en-US" sz="1800" dirty="0"/>
              <a:t>=1,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directory='</a:t>
            </a:r>
            <a:r>
              <a:rPr lang="en-US" sz="1800" dirty="0" err="1"/>
              <a:t>hyperparameter_search</a:t>
            </a:r>
            <a:r>
              <a:rPr lang="en-US" sz="1800" dirty="0"/>
              <a:t>',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</a:t>
            </a:r>
            <a:r>
              <a:rPr lang="en-US" sz="1800" dirty="0" err="1"/>
              <a:t>project_name</a:t>
            </a:r>
            <a:r>
              <a:rPr lang="en-US" sz="1800" dirty="0"/>
              <a:t>='</a:t>
            </a:r>
            <a:r>
              <a:rPr lang="en-US" sz="1800" dirty="0" err="1"/>
              <a:t>random_search_lstm</a:t>
            </a:r>
            <a:r>
              <a:rPr lang="en-US" sz="1800" dirty="0"/>
              <a:t>')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random_search.search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, epochs=5,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</a:t>
            </a:r>
            <a:r>
              <a:rPr lang="en-US" sz="1800" dirty="0" err="1"/>
              <a:t>validation_split</a:t>
            </a:r>
            <a:r>
              <a:rPr lang="en-US" sz="1800" dirty="0"/>
              <a:t>=0.2)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print(</a:t>
            </a:r>
            <a:r>
              <a:rPr lang="en-US" sz="1800" dirty="0" err="1"/>
              <a:t>f"Best</a:t>
            </a:r>
            <a:r>
              <a:rPr lang="en-US" sz="1800" dirty="0"/>
              <a:t> Hyperparameters from Random Search: {</a:t>
            </a:r>
            <a:r>
              <a:rPr lang="en-US" sz="1800" dirty="0" err="1"/>
              <a:t>random_search.get_best_hyperparameters</a:t>
            </a:r>
            <a:r>
              <a:rPr lang="en-US" sz="1800" dirty="0"/>
              <a:t>(</a:t>
            </a:r>
            <a:endParaRPr lang="en-150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AF997-25C4-87E2-5831-9945F22E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9984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704D-DD5B-2FE9-B96D-9867FB2F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Hyperparameter Tuning</a:t>
            </a:r>
            <a:br>
              <a:rPr lang="en-US" sz="4000" dirty="0"/>
            </a:br>
            <a:r>
              <a:rPr lang="en-US" sz="4000" dirty="0"/>
              <a:t>Random Search</a:t>
            </a:r>
            <a:endParaRPr lang="en-15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3A32C-3CB6-4E8E-F741-7191A24A3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457" y="1317171"/>
            <a:ext cx="11016343" cy="485979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bayesian_opt</a:t>
            </a:r>
            <a:r>
              <a:rPr lang="en-US" sz="1800" dirty="0"/>
              <a:t> = </a:t>
            </a:r>
            <a:r>
              <a:rPr lang="en-US" sz="1800" dirty="0" err="1"/>
              <a:t>BayesianOptimization</a:t>
            </a:r>
            <a:r>
              <a:rPr lang="en-US" sz="1800" dirty="0"/>
              <a:t>(</a:t>
            </a:r>
            <a:r>
              <a:rPr lang="en-US" sz="1800" dirty="0" err="1"/>
              <a:t>build_model</a:t>
            </a:r>
            <a:r>
              <a:rPr lang="en-US" sz="180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objective='</a:t>
            </a:r>
            <a:r>
              <a:rPr lang="en-US" sz="1800" dirty="0" err="1"/>
              <a:t>val_loss</a:t>
            </a:r>
            <a:r>
              <a:rPr lang="en-US" sz="1800" dirty="0"/>
              <a:t>',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</a:t>
            </a:r>
            <a:r>
              <a:rPr lang="en-US" sz="1800" dirty="0" err="1"/>
              <a:t>max_trials</a:t>
            </a:r>
            <a:r>
              <a:rPr lang="en-US" sz="1800" dirty="0"/>
              <a:t>=5,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</a:t>
            </a:r>
            <a:r>
              <a:rPr lang="en-US" sz="1800" dirty="0" err="1"/>
              <a:t>executions_per_trial</a:t>
            </a:r>
            <a:r>
              <a:rPr lang="en-US" sz="1800" dirty="0"/>
              <a:t>=1,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directory='</a:t>
            </a:r>
            <a:r>
              <a:rPr lang="en-US" sz="1800" dirty="0" err="1"/>
              <a:t>hyperparameter_search</a:t>
            </a:r>
            <a:r>
              <a:rPr lang="en-US" sz="1800" dirty="0"/>
              <a:t>',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      </a:t>
            </a:r>
            <a:r>
              <a:rPr lang="en-US" sz="1800" dirty="0" err="1"/>
              <a:t>project_name</a:t>
            </a:r>
            <a:r>
              <a:rPr lang="en-US" sz="1800" dirty="0"/>
              <a:t>='</a:t>
            </a:r>
            <a:r>
              <a:rPr lang="en-US" sz="1800" dirty="0" err="1"/>
              <a:t>bayesian_opt_lstm</a:t>
            </a:r>
            <a:r>
              <a:rPr lang="en-US" sz="1800" dirty="0"/>
              <a:t>')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bayesian_opt.search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, epochs=5,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 </a:t>
            </a:r>
            <a:r>
              <a:rPr lang="en-US" sz="1800" dirty="0" err="1"/>
              <a:t>validation_split</a:t>
            </a:r>
            <a:r>
              <a:rPr lang="en-US" sz="1800" dirty="0"/>
              <a:t>=0.2)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print(</a:t>
            </a:r>
            <a:r>
              <a:rPr lang="en-US" sz="1800" dirty="0" err="1"/>
              <a:t>f"Best</a:t>
            </a:r>
            <a:r>
              <a:rPr lang="en-US" sz="1800" dirty="0"/>
              <a:t> Hyperparameters from Bayesian </a:t>
            </a:r>
            <a:r>
              <a:rPr lang="en-US" sz="1800" dirty="0" err="1"/>
              <a:t>Optimziation</a:t>
            </a:r>
            <a:r>
              <a:rPr lang="en-US" sz="1800" dirty="0"/>
              <a:t>: {</a:t>
            </a:r>
            <a:r>
              <a:rPr lang="en-US" sz="1800" dirty="0" err="1"/>
              <a:t>bayesian_opt.get_best_hyperparameters</a:t>
            </a:r>
            <a:r>
              <a:rPr lang="en-US" sz="1800" dirty="0"/>
              <a:t>()[0].values}")</a:t>
            </a:r>
            <a:endParaRPr lang="en-150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DEB62-774A-338F-1879-A0A9CEE7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8770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AA76-FDED-A425-0DE3-889CF11A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&amp; Early Stopping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3875F-D172-C47C-4723-FA490650E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287" y="1120347"/>
            <a:ext cx="11908970" cy="573765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from </a:t>
            </a:r>
            <a:r>
              <a:rPr lang="en-US" sz="1800" dirty="0" err="1"/>
              <a:t>keras.callbacks</a:t>
            </a:r>
            <a:r>
              <a:rPr lang="en-US" sz="1800" dirty="0"/>
              <a:t> import </a:t>
            </a:r>
            <a:r>
              <a:rPr lang="en-US" sz="1800" dirty="0" err="1"/>
              <a:t>EarlyStopping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from </a:t>
            </a:r>
            <a:r>
              <a:rPr lang="en-US" sz="1800" dirty="0" err="1"/>
              <a:t>keras.regularizers</a:t>
            </a:r>
            <a:r>
              <a:rPr lang="en-US" sz="1800" dirty="0"/>
              <a:t> import l1, l2, l1_l2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early_stopping</a:t>
            </a:r>
            <a:r>
              <a:rPr lang="en-US" sz="1800" dirty="0"/>
              <a:t> = </a:t>
            </a:r>
            <a:r>
              <a:rPr lang="en-US" sz="1800" dirty="0" err="1"/>
              <a:t>EarlyStopping</a:t>
            </a:r>
            <a:r>
              <a:rPr lang="en-US" sz="1800" dirty="0"/>
              <a:t>(monitor='</a:t>
            </a:r>
            <a:r>
              <a:rPr lang="en-US" sz="1800" dirty="0" err="1"/>
              <a:t>val_loss</a:t>
            </a:r>
            <a:r>
              <a:rPr lang="en-US" sz="1800" dirty="0"/>
              <a:t>',  patience=3, </a:t>
            </a:r>
            <a:r>
              <a:rPr lang="en-US" sz="1800" dirty="0" err="1"/>
              <a:t>restore_best_weights</a:t>
            </a:r>
            <a:r>
              <a:rPr lang="en-US" sz="1800" dirty="0"/>
              <a:t>=True)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input_layer</a:t>
            </a:r>
            <a:r>
              <a:rPr lang="en-US" sz="1800" dirty="0"/>
              <a:t> = Input(shape=(</a:t>
            </a:r>
            <a:r>
              <a:rPr lang="en-US" sz="1800" dirty="0" err="1"/>
              <a:t>num_features</a:t>
            </a:r>
            <a:r>
              <a:rPr lang="en-US" sz="1800" dirty="0"/>
              <a:t>, 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hl1 = Dense(3, '</a:t>
            </a:r>
            <a:r>
              <a:rPr lang="en-US" sz="1800" dirty="0" err="1"/>
              <a:t>relu</a:t>
            </a:r>
            <a:r>
              <a:rPr lang="en-US" sz="1800" dirty="0"/>
              <a:t>', </a:t>
            </a:r>
            <a:r>
              <a:rPr lang="en-US" sz="1800" dirty="0" err="1"/>
              <a:t>kernel_regularizer</a:t>
            </a:r>
            <a:r>
              <a:rPr lang="en-US" sz="1800" dirty="0"/>
              <a:t>=l1(0.1))(</a:t>
            </a:r>
            <a:r>
              <a:rPr lang="en-US" sz="1800" dirty="0" err="1"/>
              <a:t>input_layer</a:t>
            </a:r>
            <a:r>
              <a:rPr lang="en-US" sz="18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hl2 = Dense(5, '</a:t>
            </a:r>
            <a:r>
              <a:rPr lang="en-US" sz="1800" dirty="0" err="1"/>
              <a:t>relu</a:t>
            </a:r>
            <a:r>
              <a:rPr lang="en-US" sz="1800" dirty="0"/>
              <a:t>', </a:t>
            </a:r>
            <a:r>
              <a:rPr lang="en-US" sz="1800" dirty="0" err="1"/>
              <a:t>kernel_regularizer</a:t>
            </a:r>
            <a:r>
              <a:rPr lang="en-US" sz="1800" dirty="0"/>
              <a:t>=l2(0.1), </a:t>
            </a:r>
            <a:r>
              <a:rPr lang="en-US" sz="1800" dirty="0" err="1"/>
              <a:t>bias_regularizer</a:t>
            </a:r>
            <a:r>
              <a:rPr lang="en-US" sz="1800" dirty="0"/>
              <a:t>=l1_l2(0.1, 0.1))(hl1)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output_layer</a:t>
            </a:r>
            <a:r>
              <a:rPr lang="en-US" sz="1800" dirty="0"/>
              <a:t> = Dense(3, activation='</a:t>
            </a:r>
            <a:r>
              <a:rPr lang="en-US" sz="1800" dirty="0" err="1"/>
              <a:t>softmax</a:t>
            </a:r>
            <a:r>
              <a:rPr lang="en-US" sz="1800" dirty="0"/>
              <a:t>')(hl2)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mlp_classifier</a:t>
            </a:r>
            <a:r>
              <a:rPr lang="en-US" sz="1800" dirty="0"/>
              <a:t> = Model(inputs=[</a:t>
            </a:r>
            <a:r>
              <a:rPr lang="en-US" sz="1800" dirty="0" err="1"/>
              <a:t>input_layer</a:t>
            </a:r>
            <a:r>
              <a:rPr lang="en-US" sz="1800" dirty="0"/>
              <a:t>], outputs=[</a:t>
            </a:r>
            <a:r>
              <a:rPr lang="en-US" sz="1800" dirty="0" err="1"/>
              <a:t>output_layer</a:t>
            </a:r>
            <a:r>
              <a:rPr lang="en-US" sz="1800" dirty="0"/>
              <a:t>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mlp_classifier.compile</a:t>
            </a:r>
            <a:r>
              <a:rPr lang="en-US" sz="1800" dirty="0"/>
              <a:t>(loss='</a:t>
            </a:r>
            <a:r>
              <a:rPr lang="en-US" sz="1800" dirty="0" err="1"/>
              <a:t>categorical_crossentropy</a:t>
            </a:r>
            <a:r>
              <a:rPr lang="en-US" sz="1800" dirty="0"/>
              <a:t>', optimizer='</a:t>
            </a:r>
            <a:r>
              <a:rPr lang="en-US" sz="1800" dirty="0" err="1"/>
              <a:t>sgd</a:t>
            </a:r>
            <a:r>
              <a:rPr lang="en-US" sz="1800" dirty="0"/>
              <a:t>’)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/>
              <a:t>mlp_classifier.fit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y_train_one_hot</a:t>
            </a:r>
            <a:r>
              <a:rPr lang="en-US" sz="1800" dirty="0"/>
              <a:t>, epochs=300, </a:t>
            </a:r>
            <a:r>
              <a:rPr lang="en-US" sz="1800" dirty="0" err="1"/>
              <a:t>batch_size</a:t>
            </a:r>
            <a:r>
              <a:rPr lang="en-US" sz="1800" dirty="0"/>
              <a:t>=16, </a:t>
            </a:r>
            <a:r>
              <a:rPr lang="en-US" sz="1800" dirty="0" err="1"/>
              <a:t>validation_split</a:t>
            </a:r>
            <a:r>
              <a:rPr lang="en-US" sz="1800" dirty="0"/>
              <a:t>=0.2, verbose=1, callbacks=[</a:t>
            </a:r>
            <a:r>
              <a:rPr lang="en-US" sz="1800" dirty="0" err="1"/>
              <a:t>early_stopping</a:t>
            </a:r>
            <a:r>
              <a:rPr lang="en-US" sz="1800" dirty="0"/>
              <a:t>])</a:t>
            </a:r>
            <a:endParaRPr lang="en-150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EB8D9-E6A5-8BC7-7970-E8641F07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2523-E2CB-428B-BB44-26998C40B94A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230696"/>
      </p:ext>
    </p:extLst>
  </p:cSld>
  <p:clrMapOvr>
    <a:masterClrMapping/>
  </p:clrMapOvr>
</p:sld>
</file>

<file path=ppt/theme/theme1.xml><?xml version="1.0" encoding="utf-8"?>
<a:theme xmlns:a="http://schemas.openxmlformats.org/drawingml/2006/main" name="mnakip_Template_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nakip_Template_2" id="{6AF4F4F4-0810-47A2-A145-EEB1B90EC29A}" vid="{153CFCB9-2864-419D-B16C-04BBC9105FEB}"/>
    </a:ext>
  </a:extLst>
</a:theme>
</file>

<file path=ppt/theme/theme2.xml><?xml version="1.0" encoding="utf-8"?>
<a:theme xmlns:a="http://schemas.openxmlformats.org/drawingml/2006/main" name="Templat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1" id="{5D599B99-9AC2-4329-966C-6ADA9E21FC86}" vid="{28203518-9352-4B91-A399-BF903849E50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45CD668838A4AB60C1609C156CBFF" ma:contentTypeVersion="7" ma:contentTypeDescription="Create a new document." ma:contentTypeScope="" ma:versionID="3b8646741ec04bbcb2816b0db9e9d257">
  <xsd:schema xmlns:xsd="http://www.w3.org/2001/XMLSchema" xmlns:xs="http://www.w3.org/2001/XMLSchema" xmlns:p="http://schemas.microsoft.com/office/2006/metadata/properties" xmlns:ns2="d18cfc05-eeca-499f-bc27-fd1d335ed4b4" targetNamespace="http://schemas.microsoft.com/office/2006/metadata/properties" ma:root="true" ma:fieldsID="708219ac30de980c3f3dc9e63d8b98ea" ns2:_="">
    <xsd:import namespace="d18cfc05-eeca-499f-bc27-fd1d335ed4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8cfc05-eeca-499f-bc27-fd1d335ed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3B041B-7AF4-4321-8BB0-5AD8F73CC05C}"/>
</file>

<file path=customXml/itemProps2.xml><?xml version="1.0" encoding="utf-8"?>
<ds:datastoreItem xmlns:ds="http://schemas.openxmlformats.org/officeDocument/2006/customXml" ds:itemID="{FFE96096-7967-4F14-8873-138D5B91129A}"/>
</file>

<file path=customXml/itemProps3.xml><?xml version="1.0" encoding="utf-8"?>
<ds:datastoreItem xmlns:ds="http://schemas.openxmlformats.org/officeDocument/2006/customXml" ds:itemID="{C0EAF4C6-6FFA-44D4-ABBF-06DF2E107369}"/>
</file>

<file path=docProps/app.xml><?xml version="1.0" encoding="utf-8"?>
<Properties xmlns="http://schemas.openxmlformats.org/officeDocument/2006/extended-properties" xmlns:vt="http://schemas.openxmlformats.org/officeDocument/2006/docPropsVTypes">
  <Template>mnakip_Template_2</Template>
  <TotalTime>911</TotalTime>
  <Words>5321</Words>
  <Application>Microsoft Office PowerPoint</Application>
  <PresentationFormat>Widescreen</PresentationFormat>
  <Paragraphs>653</Paragraphs>
  <Slides>50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Aptos</vt:lpstr>
      <vt:lpstr>Arial</vt:lpstr>
      <vt:lpstr>Cambria Math</vt:lpstr>
      <vt:lpstr>Times New Roman</vt:lpstr>
      <vt:lpstr>Verdana</vt:lpstr>
      <vt:lpstr>Wingdings</vt:lpstr>
      <vt:lpstr>mnakip_Template_2</vt:lpstr>
      <vt:lpstr>Template1</vt:lpstr>
      <vt:lpstr>Deep Learning Applications in Python</vt:lpstr>
      <vt:lpstr>DATASET / DATA / FEATURE</vt:lpstr>
      <vt:lpstr>FEATURES</vt:lpstr>
      <vt:lpstr>Unsupervised Learning K-means Clustering</vt:lpstr>
      <vt:lpstr>Unsupervised Learning Principal Component Analysis</vt:lpstr>
      <vt:lpstr>Unsupervised Learning Principal Component Analysis</vt:lpstr>
      <vt:lpstr>Dataset</vt:lpstr>
      <vt:lpstr>Analyzing Data</vt:lpstr>
      <vt:lpstr>PCA</vt:lpstr>
      <vt:lpstr>K-means</vt:lpstr>
      <vt:lpstr>Plot Function</vt:lpstr>
      <vt:lpstr>Plot Clusters of K-means</vt:lpstr>
      <vt:lpstr>Plot Clusters of K-means</vt:lpstr>
      <vt:lpstr>Plot Clusters of K-means</vt:lpstr>
      <vt:lpstr>K-Nearest Neighbors</vt:lpstr>
      <vt:lpstr>Linear Regression (LR) </vt:lpstr>
      <vt:lpstr>Linear Regression</vt:lpstr>
      <vt:lpstr>Linear Regression</vt:lpstr>
      <vt:lpstr>Thresholding</vt:lpstr>
      <vt:lpstr>Linear Regression</vt:lpstr>
      <vt:lpstr>Adaptive Linear Neuron (Adaline) </vt:lpstr>
      <vt:lpstr>Adaline</vt:lpstr>
      <vt:lpstr>Plot Model Structure</vt:lpstr>
      <vt:lpstr>Adaline Results</vt:lpstr>
      <vt:lpstr>Nonlinear Neuron</vt:lpstr>
      <vt:lpstr>Nonlinear Neuron Results</vt:lpstr>
      <vt:lpstr>Multilayer Perceptron</vt:lpstr>
      <vt:lpstr>MLP Results</vt:lpstr>
      <vt:lpstr>Multilayer Perceptron with Dropout</vt:lpstr>
      <vt:lpstr>Multilayer Perceptron with Dropout</vt:lpstr>
      <vt:lpstr>One Hot Encoding</vt:lpstr>
      <vt:lpstr>MLP Classifier</vt:lpstr>
      <vt:lpstr>Residual Neural Network</vt:lpstr>
      <vt:lpstr>Residual Neural Network</vt:lpstr>
      <vt:lpstr>Time Series Data</vt:lpstr>
      <vt:lpstr>Time Series Data</vt:lpstr>
      <vt:lpstr>Time Series Data</vt:lpstr>
      <vt:lpstr>Time Series Data</vt:lpstr>
      <vt:lpstr>Time Series Data for Supervised Methods</vt:lpstr>
      <vt:lpstr>Weather Data</vt:lpstr>
      <vt:lpstr>Weather Data</vt:lpstr>
      <vt:lpstr>MLP for Forecasting</vt:lpstr>
      <vt:lpstr>Recurrent Neuron</vt:lpstr>
      <vt:lpstr>Recurrent Neural Network</vt:lpstr>
      <vt:lpstr>Long Short-Term Memory (LSTM)</vt:lpstr>
      <vt:lpstr>Hyperparameter Tuning</vt:lpstr>
      <vt:lpstr>Hyperparameter Tuning Grid Search</vt:lpstr>
      <vt:lpstr>Hyperparameter Tuning Random Search</vt:lpstr>
      <vt:lpstr>Hyperparameter Tuning Random Search</vt:lpstr>
      <vt:lpstr>Regularization &amp; Early Stopping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in Theory and Applications Week 1:  Introduction to Deep Learning &amp;  Perceptron and Perceptron Learning Rule</dc:title>
  <dc:creator>mert nakip</dc:creator>
  <cp:lastModifiedBy>Mert Nakip</cp:lastModifiedBy>
  <cp:revision>45</cp:revision>
  <dcterms:created xsi:type="dcterms:W3CDTF">2024-09-30T20:22:41Z</dcterms:created>
  <dcterms:modified xsi:type="dcterms:W3CDTF">2024-11-23T16:48:22Z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0x010100F2A45CD668838A4AB60C1609C156CBFF</vt:lpwstr>
  </property>
</Properties>
</file>